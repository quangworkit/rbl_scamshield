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8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371600"/>
            <a:ext cx="10058400" cy="4114800"/>
          </a:xfrm>
          <a:prstGeom prst="rect">
            <a:avLst/>
          </a:prstGeom>
          <a:noFill/>
        </p:spPr>
        <p:txBody>
          <a:bodyPr wrap="square">
            <a:spAutoFit/>
          </a:bodyPr>
          <a:lstStyle/>
          <a:p>
            <a:pPr>
              <a:spcAft>
                <a:spcPts val="1400"/>
              </a:spcAft>
              <a:defRPr sz="1400" b="1">
                <a:solidFill>
                  <a:srgbClr val="93C5FD"/>
                </a:solidFill>
              </a:defRPr>
            </a:pPr>
            <a:r>
              <a:t>RESEARCH-BASED LEARNING (RBL) FINAL DEFENSE</a:t>
            </a:r>
          </a:p>
          <a:p>
            <a:pPr>
              <a:spcAft>
                <a:spcPts val="1800"/>
              </a:spcAft>
              <a:defRPr sz="2800" b="1">
                <a:solidFill>
                  <a:srgbClr val="F8FAFC"/>
                </a:solidFill>
              </a:defRPr>
            </a:pPr>
            <a:r>
              <a:t>ScamShield-VN: Evidence-Grounded Vietnamese Scam and Phishing Detection Platform</a:t>
            </a:r>
          </a:p>
          <a:p>
            <a:pPr>
              <a:spcAft>
                <a:spcPts val="3600"/>
              </a:spcAft>
              <a:defRPr sz="1800">
                <a:solidFill>
                  <a:srgbClr val="E2E8F0"/>
                </a:solidFill>
              </a:defRPr>
            </a:pPr>
            <a:r>
              <a:t>Empirical Evaluation of ViSoBERT with Cost-Sensitive Loss and Multi-Agent Forensic Council</a:t>
            </a:r>
          </a:p>
          <a:p>
            <a:pPr>
              <a:defRPr sz="1200">
                <a:solidFill>
                  <a:srgbClr val="94A3B8"/>
                </a:solidFill>
              </a:defRPr>
            </a:pPr>
            <a:r>
              <a:t>Authors: Nguyen Trung Hieu (PL/MS), Le Quoc Huy (RW), Hoang Hai Phuc (MS), Phan Tran Hoang Tran (DG), Nguyen Minh Quang (LR)</a:t>
            </a:r>
            <a:br/>
            <a:r>
              <a:t>Department of Software Engineering, FPT University · Advisor: ThS. L.T.Q.Chi ·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914400"/>
          </a:xfrm>
          <a:prstGeom prst="rect">
            <a:avLst/>
          </a:prstGeom>
          <a:noFill/>
        </p:spPr>
        <p:txBody>
          <a:bodyPr wrap="square" lIns="0" tIns="0" rIns="0" bIns="0">
            <a:spAutoFit/>
          </a:bodyPr>
          <a:lstStyle/>
          <a:p>
            <a:pPr>
              <a:defRPr sz="1100" b="1">
                <a:solidFill>
                  <a:srgbClr val="2563EB"/>
                </a:solidFill>
              </a:defRPr>
            </a:pPr>
            <a:r>
              <a:t>SCAMSHIELD-VN · RBL SCIENTIFIC DEFENSE</a:t>
            </a:r>
          </a:p>
          <a:p>
            <a:pPr>
              <a:defRPr sz="2200" b="1">
                <a:solidFill>
                  <a:srgbClr val="182B49"/>
                </a:solidFill>
              </a:defRPr>
            </a:pPr>
            <a:r>
              <a:t>1. Bối Cảnh Thực Tiễn &amp; Khoảng Trống Y Văn (Motivation &amp; GAPs)</a:t>
            </a:r>
          </a:p>
        </p:txBody>
      </p:sp>
      <p:sp>
        <p:nvSpPr>
          <p:cNvPr id="3" name="Rounded Rectangle 2"/>
          <p:cNvSpPr/>
          <p:nvPr/>
        </p:nvSpPr>
        <p:spPr>
          <a:xfrm>
            <a:off x="731520" y="1463040"/>
            <a:ext cx="3291840"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2926080" cy="4389120"/>
          </a:xfrm>
          <a:prstGeom prst="rect">
            <a:avLst/>
          </a:prstGeom>
          <a:noFill/>
        </p:spPr>
        <p:txBody>
          <a:bodyPr wrap="square">
            <a:spAutoFit/>
          </a:bodyPr>
          <a:lstStyle/>
          <a:p>
            <a:pPr>
              <a:spcAft>
                <a:spcPts val="1000"/>
              </a:spcAft>
              <a:defRPr b="1" sz="1600">
                <a:solidFill>
                  <a:srgbClr val="182B49"/>
                </a:solidFill>
              </a:defRPr>
            </a:pPr>
            <a:r>
              <a:t>Thách Thức Bản Địa Hóa</a:t>
            </a:r>
          </a:p>
          <a:p>
            <a:pPr>
              <a:defRPr sz="1300">
                <a:solidFill>
                  <a:srgbClr val="1E293B"/>
                </a:solidFill>
              </a:defRPr>
            </a:pPr>
            <a:r>
              <a:t>• Tội phạm mạng tại VN biến tướng tinh vi: dùng teencode, từ lóng, viết tắt không dấu nhằm lẩn tránh regex.</a:t>
            </a:r>
            <a:br/>
            <a:r>
              <a:t>• Các nghiên cứu quốc tế chỉ tập trung vào tiếng Anh (Enron, Nazario).</a:t>
            </a:r>
            <a:br/>
            <a:r>
              <a:t>• Nghiên cứu tiếng Việt trước đây (VNSED) dùng loss đối xứng, bỏ lọt nhiều bẫy lừa đảo.</a:t>
            </a:r>
          </a:p>
        </p:txBody>
      </p:sp>
      <p:sp>
        <p:nvSpPr>
          <p:cNvPr id="5" name="Rounded Rectangle 4"/>
          <p:cNvSpPr/>
          <p:nvPr/>
        </p:nvSpPr>
        <p:spPr>
          <a:xfrm>
            <a:off x="4389120" y="1463040"/>
            <a:ext cx="3291840"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0" y="1645920"/>
            <a:ext cx="2926080" cy="4389120"/>
          </a:xfrm>
          <a:prstGeom prst="rect">
            <a:avLst/>
          </a:prstGeom>
          <a:noFill/>
        </p:spPr>
        <p:txBody>
          <a:bodyPr wrap="square">
            <a:spAutoFit/>
          </a:bodyPr>
          <a:lstStyle/>
          <a:p>
            <a:pPr>
              <a:spcAft>
                <a:spcPts val="1000"/>
              </a:spcAft>
              <a:defRPr b="1" sz="1600">
                <a:solidFill>
                  <a:srgbClr val="182B49"/>
                </a:solidFill>
              </a:defRPr>
            </a:pPr>
            <a:r>
              <a:t>Nghịch Lý Single-LLM</a:t>
            </a:r>
          </a:p>
          <a:p>
            <a:pPr>
              <a:defRPr sz="1300">
                <a:solidFill>
                  <a:srgbClr val="1E293B"/>
                </a:solidFill>
              </a:defRPr>
            </a:pPr>
            <a:r>
              <a:t>• Hội chứng Báo Động Giả (Alarm Fatigue): Cloud LLM (Gemini/GPT) quá nghi ngờ, chặn nhầm tin nhắn ngân hàng thật.</a:t>
            </a:r>
            <a:br/>
            <a:r>
              <a:t>• Độ trễ quá cao (3 - 5s/tin nhắn) không thể quét real-time trên điện thoại.</a:t>
            </a:r>
            <a:br/>
            <a:r>
              <a:t>• Chi phí token lớn và rủi ro quyền riêng tư khi gửi tin nhắn lên Cloud.</a:t>
            </a:r>
          </a:p>
        </p:txBody>
      </p:sp>
      <p:sp>
        <p:nvSpPr>
          <p:cNvPr id="7" name="Rounded Rectangle 6"/>
          <p:cNvSpPr/>
          <p:nvPr/>
        </p:nvSpPr>
        <p:spPr>
          <a:xfrm>
            <a:off x="8046720" y="1463040"/>
            <a:ext cx="3383280"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0" y="1645920"/>
            <a:ext cx="3017520" cy="4389120"/>
          </a:xfrm>
          <a:prstGeom prst="rect">
            <a:avLst/>
          </a:prstGeom>
          <a:noFill/>
        </p:spPr>
        <p:txBody>
          <a:bodyPr wrap="square">
            <a:spAutoFit/>
          </a:bodyPr>
          <a:lstStyle/>
          <a:p>
            <a:pPr>
              <a:spcAft>
                <a:spcPts val="1000"/>
              </a:spcAft>
              <a:defRPr b="1" sz="1600">
                <a:solidFill>
                  <a:srgbClr val="182B49"/>
                </a:solidFill>
              </a:defRPr>
            </a:pPr>
            <a:r>
              <a:t>Đột Phá Của ScamShield</a:t>
            </a:r>
          </a:p>
          <a:p>
            <a:pPr>
              <a:defRPr sz="1300">
                <a:solidFill>
                  <a:srgbClr val="1E293B"/>
                </a:solidFill>
              </a:defRPr>
            </a:pPr>
            <a:r>
              <a:t>• Kiến trúc 2 tầng (Two-Tier Cascade Routing) với ngưỡng tự tin tau = 0.90.</a:t>
            </a:r>
            <a:br/>
            <a:r>
              <a:t>• Tầng 1: ViSoBERT On-Device (&lt;15ms, phạt lỗi nặng bằng WBCE alpha=5.0).</a:t>
            </a:r>
            <a:br/>
            <a:r>
              <a:t>• Tầng 2: Hội đồng 5 AI Pháp y (có Devil's Advocate dập tắt báo động giả).</a:t>
            </a:r>
            <a:br/>
            <a:r>
              <a:t>• Tiết kiệm 85% chi phí API và đạt chuẩn bảo mật.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914400"/>
          </a:xfrm>
          <a:prstGeom prst="rect">
            <a:avLst/>
          </a:prstGeom>
          <a:noFill/>
        </p:spPr>
        <p:txBody>
          <a:bodyPr wrap="square" lIns="0" tIns="0" rIns="0" bIns="0">
            <a:spAutoFit/>
          </a:bodyPr>
          <a:lstStyle/>
          <a:p>
            <a:pPr>
              <a:defRPr sz="1100" b="1">
                <a:solidFill>
                  <a:srgbClr val="2563EB"/>
                </a:solidFill>
              </a:defRPr>
            </a:pPr>
            <a:r>
              <a:t>SCAMSHIELD-VN · RBL SCIENTIFIC DEFENSE</a:t>
            </a:r>
          </a:p>
          <a:p>
            <a:pPr>
              <a:defRPr sz="2200" b="1">
                <a:solidFill>
                  <a:srgbClr val="182B49"/>
                </a:solidFill>
              </a:defRPr>
            </a:pPr>
            <a:r>
              <a:t>2. Câu Hỏi Nghiên Cứu &amp; Giả Thuyết Thống Kê (RQ &amp; PICO)</a:t>
            </a:r>
          </a:p>
        </p:txBody>
      </p:sp>
      <p:sp>
        <p:nvSpPr>
          <p:cNvPr id="3" name="Rounded Rectangle 2"/>
          <p:cNvSpPr/>
          <p:nvPr/>
        </p:nvSpPr>
        <p:spPr>
          <a:xfrm>
            <a:off x="731520" y="1463040"/>
            <a:ext cx="10698480" cy="18288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645920"/>
            <a:ext cx="10149840" cy="1463040"/>
          </a:xfrm>
          <a:prstGeom prst="rect">
            <a:avLst/>
          </a:prstGeom>
          <a:noFill/>
        </p:spPr>
        <p:txBody>
          <a:bodyPr wrap="square">
            <a:spAutoFit/>
          </a:bodyPr>
          <a:lstStyle/>
          <a:p>
            <a:pPr>
              <a:defRPr b="1" sz="1300">
                <a:solidFill>
                  <a:srgbClr val="2563EB"/>
                </a:solidFill>
              </a:defRPr>
            </a:pPr>
            <a:r>
              <a:t>CORE RESEARCH QUESTION (RQ)</a:t>
            </a:r>
          </a:p>
          <a:p>
            <a:pPr>
              <a:defRPr b="1" sz="1600">
                <a:solidFill>
                  <a:srgbClr val="182B49"/>
                </a:solidFill>
              </a:defRPr>
            </a:pPr>
            <a:r>
              <a:t>“Với bộ dữ liệu SMS tiếng Việt (N=2,665), mô hình đề xuất ViSoBERT kết hợp hàm mất mát Cost-Sensitive Weighted Binary Cross-Entropy (L_WBCE, alpha=5.0) khác các mô hình đối chứng (PhoBERT-base, FPT ViBERT, PhoBERT-large, Gemini 3.5 Flash) thế nào về chỉ số Scam Recall?”</a:t>
            </a:r>
          </a:p>
        </p:txBody>
      </p:sp>
      <p:sp>
        <p:nvSpPr>
          <p:cNvPr id="5" name="Rounded Rectangle 4"/>
          <p:cNvSpPr/>
          <p:nvPr/>
        </p:nvSpPr>
        <p:spPr>
          <a:xfrm>
            <a:off x="731520" y="3566160"/>
            <a:ext cx="5120640" cy="265176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749039"/>
            <a:ext cx="4754880" cy="2286000"/>
          </a:xfrm>
          <a:prstGeom prst="rect">
            <a:avLst/>
          </a:prstGeom>
          <a:noFill/>
        </p:spPr>
        <p:txBody>
          <a:bodyPr wrap="square">
            <a:spAutoFit/>
          </a:bodyPr>
          <a:lstStyle/>
          <a:p>
            <a:pPr>
              <a:spcAft>
                <a:spcPts val="600"/>
              </a:spcAft>
              <a:defRPr b="1" sz="1500">
                <a:solidFill>
                  <a:srgbClr val="182B49"/>
                </a:solidFill>
              </a:defRPr>
            </a:pPr>
            <a:r>
              <a:t>Khung Giả Thuyết Thống Kê</a:t>
            </a:r>
          </a:p>
          <a:p>
            <a:pPr>
              <a:defRPr sz="1300"/>
            </a:pPr>
            <a:r>
              <a:t>• H0: Không có sự khác biệt có ý nghĩa thống kê về hiệu năng phân loại cặp giữa ViSoBERT và các baseline (p &gt;= 0.05).</a:t>
            </a:r>
            <a:br/>
            <a:r>
              <a:t>• H1: Có sự khác biệt có ý nghĩa thống kê (p &lt; 0.05).</a:t>
            </a:r>
            <a:br/>
            <a:r>
              <a:t>• Kiểm định: McNemar's Test hai phía có hiệu chỉnh tính liên tục.</a:t>
            </a:r>
            <a:br/>
            <a:r>
              <a:t>• Statistical Power: &gt; 0.85 trên cỡ mẫu N=267.</a:t>
            </a:r>
          </a:p>
        </p:txBody>
      </p:sp>
      <p:sp>
        <p:nvSpPr>
          <p:cNvPr id="7" name="Rounded Rectangle 6"/>
          <p:cNvSpPr/>
          <p:nvPr/>
        </p:nvSpPr>
        <p:spPr>
          <a:xfrm>
            <a:off x="6217920" y="3566160"/>
            <a:ext cx="5212080" cy="265176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3749039"/>
            <a:ext cx="4846320" cy="2286000"/>
          </a:xfrm>
          <a:prstGeom prst="rect">
            <a:avLst/>
          </a:prstGeom>
          <a:noFill/>
        </p:spPr>
        <p:txBody>
          <a:bodyPr wrap="square">
            <a:spAutoFit/>
          </a:bodyPr>
          <a:lstStyle/>
          <a:p>
            <a:pPr>
              <a:spcAft>
                <a:spcPts val="600"/>
              </a:spcAft>
              <a:defRPr b="1" sz="1500">
                <a:solidFill>
                  <a:srgbClr val="182B49"/>
                </a:solidFill>
              </a:defRPr>
            </a:pPr>
            <a:r>
              <a:t>Ngưỡng Chấp Nhận Thực Tiễn (Thresholds)</a:t>
            </a:r>
          </a:p>
          <a:p>
            <a:pPr>
              <a:defRPr sz="1300"/>
            </a:pPr>
            <a:r>
              <a:t>• Ngưỡng an toàn bảo vệ người dân: Scam Recall &gt;= 95.0% (bắt trọn lừa đảo, triệt tiêu bỏ sót).</a:t>
            </a:r>
            <a:br/>
            <a:r>
              <a:t>• Ngưỡng hiệu năng tổng thể: Macro-F1 &gt;= 90.0%.</a:t>
            </a:r>
            <a:br/>
            <a:r>
              <a:t>• Ngưỡng triển khai Edge CPU: Latency &lt;= 30 ms/tin nhắn.</a:t>
            </a:r>
            <a:br/>
            <a:r>
              <a:t>• Cổng kiểm soát liêm chính: Khóa cứng Frozen Test Set trước khi chạy mô hình (Strictly No-HARKing).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914400"/>
          </a:xfrm>
          <a:prstGeom prst="rect">
            <a:avLst/>
          </a:prstGeom>
          <a:noFill/>
        </p:spPr>
        <p:txBody>
          <a:bodyPr wrap="square" lIns="0" tIns="0" rIns="0" bIns="0">
            <a:spAutoFit/>
          </a:bodyPr>
          <a:lstStyle/>
          <a:p>
            <a:pPr>
              <a:defRPr sz="1100" b="1">
                <a:solidFill>
                  <a:srgbClr val="2563EB"/>
                </a:solidFill>
              </a:defRPr>
            </a:pPr>
            <a:r>
              <a:t>SCAMSHIELD-VN · RBL SCIENTIFIC DEFENSE</a:t>
            </a:r>
          </a:p>
          <a:p>
            <a:pPr>
              <a:defRPr sz="2200" b="1">
                <a:solidFill>
                  <a:srgbClr val="182B49"/>
                </a:solidFill>
              </a:defRPr>
            </a:pPr>
            <a:r>
              <a:t>3. Tập Dữ Liệu Thực Nghiệm &amp; Phân Tách Niêm Phong (Dataset)</a:t>
            </a:r>
          </a:p>
        </p:txBody>
      </p:sp>
      <p:sp>
        <p:nvSpPr>
          <p:cNvPr id="3" name="Rounded Rectangle 2"/>
          <p:cNvSpPr/>
          <p:nvPr/>
        </p:nvSpPr>
        <p:spPr>
          <a:xfrm>
            <a:off x="731520" y="1463040"/>
            <a:ext cx="3291840"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2926080" cy="4389120"/>
          </a:xfrm>
          <a:prstGeom prst="rect">
            <a:avLst/>
          </a:prstGeom>
          <a:noFill/>
        </p:spPr>
        <p:txBody>
          <a:bodyPr wrap="square">
            <a:spAutoFit/>
          </a:bodyPr>
          <a:lstStyle/>
          <a:p>
            <a:pPr>
              <a:spcAft>
                <a:spcPts val="1000"/>
              </a:spcAft>
              <a:defRPr b="1" sz="1600">
                <a:solidFill>
                  <a:srgbClr val="182B49"/>
                </a:solidFill>
              </a:defRPr>
            </a:pPr>
            <a:r>
              <a:t>Quy Mô Dữ Liệu</a:t>
            </a:r>
          </a:p>
          <a:p>
            <a:pPr>
              <a:defRPr sz="1300"/>
            </a:pPr>
            <a:r>
              <a:t>• Tổng hợp: 2,665 tin nhắn SMS tiếng Việt thực tế.</a:t>
            </a:r>
            <a:br/>
            <a:r>
              <a:t>• Benign/Ham (Label 0): 1,918 tin (72.0%).</a:t>
            </a:r>
            <a:br/>
            <a:r>
              <a:t>• Scam/Phishing (Label 1): 747 tin (28.0%).</a:t>
            </a:r>
            <a:br/>
            <a:r>
              <a:t>• Phản ánh đúng độ mất cân bằng lớp thực tế trong viễn thông.</a:t>
            </a:r>
          </a:p>
        </p:txBody>
      </p:sp>
      <p:sp>
        <p:nvSpPr>
          <p:cNvPr id="5" name="Rounded Rectangle 4"/>
          <p:cNvSpPr/>
          <p:nvPr/>
        </p:nvSpPr>
        <p:spPr>
          <a:xfrm>
            <a:off x="4389120" y="1463040"/>
            <a:ext cx="3291840"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0" y="1645920"/>
            <a:ext cx="2926080" cy="4389120"/>
          </a:xfrm>
          <a:prstGeom prst="rect">
            <a:avLst/>
          </a:prstGeom>
          <a:noFill/>
        </p:spPr>
        <p:txBody>
          <a:bodyPr wrap="square">
            <a:spAutoFit/>
          </a:bodyPr>
          <a:lstStyle/>
          <a:p>
            <a:pPr>
              <a:spcAft>
                <a:spcPts val="1000"/>
              </a:spcAft>
              <a:defRPr b="1" sz="1600">
                <a:solidFill>
                  <a:srgbClr val="182B49"/>
                </a:solidFill>
              </a:defRPr>
            </a:pPr>
            <a:r>
              <a:t>Phân Tách Stratified</a:t>
            </a:r>
          </a:p>
          <a:p>
            <a:pPr>
              <a:defRPr sz="1300"/>
            </a:pPr>
            <a:r>
              <a:t>• Train / Val Set (90%): 2,398 tin nhắn.</a:t>
            </a:r>
            <a:br/>
            <a:r>
              <a:t>• FROZEN TEST SET (10%): Đúng N = 267 tin nhắn (192 Ham, 75 Scam).</a:t>
            </a:r>
            <a:br/>
            <a:r>
              <a:t>• Niêm phong 100%: Tuyệt đối không chạm vào trong quá trình tinh chỉnh tham số.</a:t>
            </a:r>
          </a:p>
        </p:txBody>
      </p:sp>
      <p:sp>
        <p:nvSpPr>
          <p:cNvPr id="7" name="Rounded Rectangle 6"/>
          <p:cNvSpPr/>
          <p:nvPr/>
        </p:nvSpPr>
        <p:spPr>
          <a:xfrm>
            <a:off x="8046720" y="1463040"/>
            <a:ext cx="3383280"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0" y="1645920"/>
            <a:ext cx="3017520" cy="4389120"/>
          </a:xfrm>
          <a:prstGeom prst="rect">
            <a:avLst/>
          </a:prstGeom>
          <a:noFill/>
        </p:spPr>
        <p:txBody>
          <a:bodyPr wrap="square">
            <a:spAutoFit/>
          </a:bodyPr>
          <a:lstStyle/>
          <a:p>
            <a:pPr>
              <a:spcAft>
                <a:spcPts val="1000"/>
              </a:spcAft>
              <a:defRPr b="1" sz="1600">
                <a:solidFill>
                  <a:srgbClr val="182B49"/>
                </a:solidFill>
              </a:defRPr>
            </a:pPr>
            <a:r>
              <a:t>Chất Lượng Gán Nhãn</a:t>
            </a:r>
          </a:p>
          <a:p>
            <a:pPr>
              <a:defRPr sz="1300"/>
            </a:pPr>
            <a:r>
              <a:t>• Gán nhãn độc lập bởi 2 kỹ sư an toàn thông tin.</a:t>
            </a:r>
            <a:br/>
            <a:r>
              <a:t>• Inter-Annotator Agreement (IAA):</a:t>
            </a:r>
            <a:br/>
            <a:r>
              <a:t>  Cohen's kappa = 0.88 (Mức độ đồng thuận gần như tuyệt đối).</a:t>
            </a:r>
            <a:br/>
            <a:r>
              <a:t>• Mẫu bất đồng được chuyên gia thứ ba phân xử dứt điểm.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914400"/>
          </a:xfrm>
          <a:prstGeom prst="rect">
            <a:avLst/>
          </a:prstGeom>
          <a:noFill/>
        </p:spPr>
        <p:txBody>
          <a:bodyPr wrap="square" lIns="0" tIns="0" rIns="0" bIns="0">
            <a:spAutoFit/>
          </a:bodyPr>
          <a:lstStyle/>
          <a:p>
            <a:pPr>
              <a:defRPr sz="1100" b="1">
                <a:solidFill>
                  <a:srgbClr val="2563EB"/>
                </a:solidFill>
              </a:defRPr>
            </a:pPr>
            <a:r>
              <a:t>SCAMSHIELD-VN · RBL SCIENTIFIC DEFENSE</a:t>
            </a:r>
          </a:p>
          <a:p>
            <a:pPr>
              <a:defRPr sz="2200" b="1">
                <a:solidFill>
                  <a:srgbClr val="182B49"/>
                </a:solidFill>
              </a:defRPr>
            </a:pPr>
            <a:r>
              <a:t>4. Phương Pháp: ViSoBERT + Cost-Sensitive Loss (WBCE)</a:t>
            </a:r>
          </a:p>
        </p:txBody>
      </p:sp>
      <p:sp>
        <p:nvSpPr>
          <p:cNvPr id="3" name="Rounded Rectangle 2"/>
          <p:cNvSpPr/>
          <p:nvPr/>
        </p:nvSpPr>
        <p:spPr>
          <a:xfrm>
            <a:off x="731520" y="1463040"/>
            <a:ext cx="5120640"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4754880" cy="4389120"/>
          </a:xfrm>
          <a:prstGeom prst="rect">
            <a:avLst/>
          </a:prstGeom>
          <a:noFill/>
        </p:spPr>
        <p:txBody>
          <a:bodyPr wrap="square">
            <a:spAutoFit/>
          </a:bodyPr>
          <a:lstStyle/>
          <a:p>
            <a:pPr>
              <a:spcAft>
                <a:spcPts val="1000"/>
              </a:spcAft>
              <a:defRPr b="1" sz="1600">
                <a:solidFill>
                  <a:srgbClr val="182B49"/>
                </a:solidFill>
              </a:defRPr>
            </a:pPr>
            <a:r>
              <a:t>Hàm Mất Mát Nhạy Cảm Chi Phí</a:t>
            </a:r>
          </a:p>
          <a:p>
            <a:pPr>
              <a:defRPr sz="1300"/>
            </a:pPr>
            <a:r>
              <a:t>L_WBCE = - (1/N) * SUM [ alpha * y_i * log(y_hat_i) + (1 - y_i) * log(1 - y_hat_i) ]</a:t>
            </a:r>
            <a:br/>
            <a:br/>
            <a:r>
              <a:t>• alpha = 5.0: Phạt nặng gấp 5 lần khi mô hình bỏ sót lừa đảo (False Negative).</a:t>
            </a:r>
            <a:br/>
            <a:r>
              <a:t>• Buộc gradient kéo dịch ngưỡng quyết định về phía an toàn cho người dùng.</a:t>
            </a:r>
            <a:br/>
            <a:r>
              <a:t>• Tối ưu bằng AdamW, lr = 2e-5, FP16 mixed precision.</a:t>
            </a:r>
          </a:p>
        </p:txBody>
      </p:sp>
      <p:sp>
        <p:nvSpPr>
          <p:cNvPr id="5" name="Rounded Rectangle 4"/>
          <p:cNvSpPr/>
          <p:nvPr/>
        </p:nvSpPr>
        <p:spPr>
          <a:xfrm>
            <a:off x="6217920" y="1463040"/>
            <a:ext cx="5212080"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0" y="1645920"/>
            <a:ext cx="4846320" cy="4389120"/>
          </a:xfrm>
          <a:prstGeom prst="rect">
            <a:avLst/>
          </a:prstGeom>
          <a:noFill/>
        </p:spPr>
        <p:txBody>
          <a:bodyPr wrap="square">
            <a:spAutoFit/>
          </a:bodyPr>
          <a:lstStyle/>
          <a:p>
            <a:pPr>
              <a:spcAft>
                <a:spcPts val="1000"/>
              </a:spcAft>
              <a:defRPr b="1" sz="1600">
                <a:solidFill>
                  <a:srgbClr val="182B49"/>
                </a:solidFill>
              </a:defRPr>
            </a:pPr>
            <a:r>
              <a:t>Lợi Thế ViSoBERT &amp; ONNX INT8</a:t>
            </a:r>
          </a:p>
          <a:p>
            <a:pPr>
              <a:defRPr sz="1300"/>
            </a:pPr>
            <a:r>
              <a:t>• ViSoBERT (110M params): Tiền huấn luyện trên 60GB văn bản mạng xã hội tiếng Việt -&gt; Nắm bắt trọn vẹn teencode, tiếng lóng, viết tắt không dấu.</a:t>
            </a:r>
            <a:br/>
            <a:r>
              <a:t>• Xuất ONNX (opset=18, dynamic axes):</a:t>
            </a:r>
            <a:br/>
            <a:r>
              <a:t>  - Kích thước: 390 MB</a:t>
            </a:r>
            <a:br/>
            <a:r>
              <a:t>  - Latency CPU: ~15.8 ms/tin nhắn</a:t>
            </a:r>
            <a:br/>
            <a:r>
              <a:t>  - Tốc độ nhanh gấp 326 lần so với Cloud LLM API.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914400"/>
          </a:xfrm>
          <a:prstGeom prst="rect">
            <a:avLst/>
          </a:prstGeom>
          <a:noFill/>
        </p:spPr>
        <p:txBody>
          <a:bodyPr wrap="square" lIns="0" tIns="0" rIns="0" bIns="0">
            <a:spAutoFit/>
          </a:bodyPr>
          <a:lstStyle/>
          <a:p>
            <a:pPr>
              <a:defRPr sz="1100" b="1">
                <a:solidFill>
                  <a:srgbClr val="2563EB"/>
                </a:solidFill>
              </a:defRPr>
            </a:pPr>
            <a:r>
              <a:t>SCAMSHIELD-VN · RBL SCIENTIFIC DEFENSE</a:t>
            </a:r>
          </a:p>
          <a:p>
            <a:pPr>
              <a:defRPr sz="2200" b="1">
                <a:solidFill>
                  <a:srgbClr val="182B49"/>
                </a:solidFill>
              </a:defRPr>
            </a:pPr>
            <a:r>
              <a:t>5. Kết Quả Thực Nghiệm 5 Runs Độc Lập (Empirical Benchmark)</a:t>
            </a:r>
          </a:p>
        </p:txBody>
      </p:sp>
      <p:graphicFrame>
        <p:nvGraphicFramePr>
          <p:cNvPr id="3" name="Table 2"/>
          <p:cNvGraphicFramePr>
            <a:graphicFrameLocks noGrp="1"/>
          </p:cNvGraphicFramePr>
          <p:nvPr/>
        </p:nvGraphicFramePr>
        <p:xfrm>
          <a:off x="731520" y="1463040"/>
          <a:ext cx="10698480" cy="2926080"/>
        </p:xfrm>
        <a:graphic>
          <a:graphicData uri="http://schemas.openxmlformats.org/drawingml/2006/table">
            <a:tbl>
              <a:tblPr firstRow="1" bandRow="1">
                <a:tableStyleId>{5C22544A-7EE6-4342-B048-85BDC9FD1C3A}</a:tableStyleId>
              </a:tblPr>
              <a:tblGrid>
                <a:gridCol w="1783080"/>
                <a:gridCol w="1783080"/>
                <a:gridCol w="1783080"/>
                <a:gridCol w="1783080"/>
                <a:gridCol w="1783080"/>
                <a:gridCol w="1783080"/>
              </a:tblGrid>
              <a:tr h="487680">
                <a:tc>
                  <a:txBody>
                    <a:bodyPr/>
                    <a:lstStyle/>
                    <a:p>
                      <a:pPr>
                        <a:defRPr b="1" sz="1200">
                          <a:solidFill>
                            <a:srgbClr val="F8FAFC"/>
                          </a:solidFill>
                        </a:defRPr>
                      </a:pPr>
                      <a:r>
                        <a:t>Model Configuration</a:t>
                      </a:r>
                    </a:p>
                  </a:txBody>
                  <a:tcPr>
                    <a:solidFill>
                      <a:srgbClr val="182B49"/>
                    </a:solidFill>
                  </a:tcPr>
                </a:tc>
                <a:tc>
                  <a:txBody>
                    <a:bodyPr/>
                    <a:lstStyle/>
                    <a:p>
                      <a:pPr>
                        <a:defRPr b="1" sz="1200">
                          <a:solidFill>
                            <a:srgbClr val="F8FAFC"/>
                          </a:solidFill>
                        </a:defRPr>
                      </a:pPr>
                      <a:r>
                        <a:t>Vai trò</a:t>
                      </a:r>
                    </a:p>
                  </a:txBody>
                  <a:tcPr>
                    <a:solidFill>
                      <a:srgbClr val="182B49"/>
                    </a:solidFill>
                  </a:tcPr>
                </a:tc>
                <a:tc>
                  <a:txBody>
                    <a:bodyPr/>
                    <a:lstStyle/>
                    <a:p>
                      <a:pPr>
                        <a:defRPr b="1" sz="1200">
                          <a:solidFill>
                            <a:srgbClr val="F8FAFC"/>
                          </a:solidFill>
                        </a:defRPr>
                      </a:pPr>
                      <a:r>
                        <a:t>Accuracy (%)</a:t>
                      </a:r>
                    </a:p>
                  </a:txBody>
                  <a:tcPr>
                    <a:solidFill>
                      <a:srgbClr val="182B49"/>
                    </a:solidFill>
                  </a:tcPr>
                </a:tc>
                <a:tc>
                  <a:txBody>
                    <a:bodyPr/>
                    <a:lstStyle/>
                    <a:p>
                      <a:pPr>
                        <a:defRPr b="1" sz="1200">
                          <a:solidFill>
                            <a:srgbClr val="F8FAFC"/>
                          </a:solidFill>
                        </a:defRPr>
                      </a:pPr>
                      <a:r>
                        <a:t>Precision (%)</a:t>
                      </a:r>
                    </a:p>
                  </a:txBody>
                  <a:tcPr>
                    <a:solidFill>
                      <a:srgbClr val="182B49"/>
                    </a:solidFill>
                  </a:tcPr>
                </a:tc>
                <a:tc>
                  <a:txBody>
                    <a:bodyPr/>
                    <a:lstStyle/>
                    <a:p>
                      <a:pPr>
                        <a:defRPr b="1" sz="1200">
                          <a:solidFill>
                            <a:srgbClr val="F8FAFC"/>
                          </a:solidFill>
                        </a:defRPr>
                      </a:pPr>
                      <a:r>
                        <a:t>Scam Recall (%)</a:t>
                      </a:r>
                    </a:p>
                  </a:txBody>
                  <a:tcPr>
                    <a:solidFill>
                      <a:srgbClr val="182B49"/>
                    </a:solidFill>
                  </a:tcPr>
                </a:tc>
                <a:tc>
                  <a:txBody>
                    <a:bodyPr/>
                    <a:lstStyle/>
                    <a:p>
                      <a:pPr>
                        <a:defRPr b="1" sz="1200">
                          <a:solidFill>
                            <a:srgbClr val="F8FAFC"/>
                          </a:solidFill>
                        </a:defRPr>
                      </a:pPr>
                      <a:r>
                        <a:t>Macro-F1 (%)</a:t>
                      </a:r>
                    </a:p>
                  </a:txBody>
                  <a:tcPr>
                    <a:solidFill>
                      <a:srgbClr val="182B49"/>
                    </a:solidFill>
                  </a:tcPr>
                </a:tc>
              </a:tr>
              <a:tr h="487680">
                <a:tc>
                  <a:txBody>
                    <a:bodyPr/>
                    <a:lstStyle/>
                    <a:p>
                      <a:pPr>
                        <a:defRPr sz="1100" b="1">
                          <a:solidFill>
                            <a:srgbClr val="182B49"/>
                          </a:solidFill>
                        </a:defRPr>
                      </a:pPr>
                      <a:r>
                        <a:t>ViSoBERT + WBCE (alpha=5.0)</a:t>
                      </a:r>
                    </a:p>
                  </a:txBody>
                  <a:tcPr>
                    <a:solidFill>
                      <a:srgbClr val="DBEAFE"/>
                    </a:solidFill>
                  </a:tcPr>
                </a:tc>
                <a:tc>
                  <a:txBody>
                    <a:bodyPr/>
                    <a:lstStyle/>
                    <a:p>
                      <a:pPr>
                        <a:defRPr sz="1100">
                          <a:solidFill>
                            <a:srgbClr val="182B49"/>
                          </a:solidFill>
                        </a:defRPr>
                      </a:pPr>
                      <a:r>
                        <a:t>Proposed (Tier 1)</a:t>
                      </a:r>
                    </a:p>
                  </a:txBody>
                  <a:tcPr>
                    <a:solidFill>
                      <a:srgbClr val="DBEAFE"/>
                    </a:solidFill>
                  </a:tcPr>
                </a:tc>
                <a:tc>
                  <a:txBody>
                    <a:bodyPr/>
                    <a:lstStyle/>
                    <a:p>
                      <a:pPr>
                        <a:defRPr sz="1100">
                          <a:solidFill>
                            <a:srgbClr val="182B49"/>
                          </a:solidFill>
                        </a:defRPr>
                      </a:pPr>
                      <a:r>
                        <a:t>95.65 ± 1.54</a:t>
                      </a:r>
                    </a:p>
                  </a:txBody>
                  <a:tcPr>
                    <a:solidFill>
                      <a:srgbClr val="DBEAFE"/>
                    </a:solidFill>
                  </a:tcPr>
                </a:tc>
                <a:tc>
                  <a:txBody>
                    <a:bodyPr/>
                    <a:lstStyle/>
                    <a:p>
                      <a:pPr>
                        <a:defRPr sz="1100">
                          <a:solidFill>
                            <a:srgbClr val="182B49"/>
                          </a:solidFill>
                        </a:defRPr>
                      </a:pPr>
                      <a:r>
                        <a:t>89.79 ± 5.15</a:t>
                      </a:r>
                    </a:p>
                  </a:txBody>
                  <a:tcPr>
                    <a:solidFill>
                      <a:srgbClr val="DBEAFE"/>
                    </a:solidFill>
                  </a:tcPr>
                </a:tc>
                <a:tc>
                  <a:txBody>
                    <a:bodyPr/>
                    <a:lstStyle/>
                    <a:p>
                      <a:pPr>
                        <a:defRPr sz="1100" b="1">
                          <a:solidFill>
                            <a:srgbClr val="182B49"/>
                          </a:solidFill>
                        </a:defRPr>
                      </a:pPr>
                      <a:r>
                        <a:t>95.62 ± 2.25</a:t>
                      </a:r>
                    </a:p>
                  </a:txBody>
                  <a:tcPr>
                    <a:solidFill>
                      <a:srgbClr val="DBEAFE"/>
                    </a:solidFill>
                  </a:tcPr>
                </a:tc>
                <a:tc>
                  <a:txBody>
                    <a:bodyPr/>
                    <a:lstStyle/>
                    <a:p>
                      <a:pPr>
                        <a:defRPr sz="1100" b="1">
                          <a:solidFill>
                            <a:srgbClr val="182B49"/>
                          </a:solidFill>
                        </a:defRPr>
                      </a:pPr>
                      <a:r>
                        <a:t>92.51 ± 2.39</a:t>
                      </a:r>
                    </a:p>
                  </a:txBody>
                  <a:tcPr>
                    <a:solidFill>
                      <a:srgbClr val="DBEAFE"/>
                    </a:solidFill>
                  </a:tcPr>
                </a:tc>
              </a:tr>
              <a:tr h="487680">
                <a:tc>
                  <a:txBody>
                    <a:bodyPr/>
                    <a:lstStyle/>
                    <a:p>
                      <a:pPr>
                        <a:defRPr sz="1100">
                          <a:solidFill>
                            <a:srgbClr val="1E293B"/>
                          </a:solidFill>
                        </a:defRPr>
                      </a:pPr>
                      <a:r>
                        <a:t>PhoBERT-large (370M)</a:t>
                      </a:r>
                    </a:p>
                  </a:txBody>
                  <a:tcPr>
                    <a:solidFill>
                      <a:srgbClr val="F1F5F9"/>
                    </a:solidFill>
                  </a:tcPr>
                </a:tc>
                <a:tc>
                  <a:txBody>
                    <a:bodyPr/>
                    <a:lstStyle/>
                    <a:p>
                      <a:pPr>
                        <a:defRPr sz="1100">
                          <a:solidFill>
                            <a:srgbClr val="1E293B"/>
                          </a:solidFill>
                        </a:defRPr>
                      </a:pPr>
                      <a:r>
                        <a:t>Baseline B2.3</a:t>
                      </a:r>
                    </a:p>
                  </a:txBody>
                  <a:tcPr>
                    <a:solidFill>
                      <a:srgbClr val="F1F5F9"/>
                    </a:solidFill>
                  </a:tcPr>
                </a:tc>
                <a:tc>
                  <a:txBody>
                    <a:bodyPr/>
                    <a:lstStyle/>
                    <a:p>
                      <a:pPr>
                        <a:defRPr sz="1100">
                          <a:solidFill>
                            <a:srgbClr val="1E293B"/>
                          </a:solidFill>
                        </a:defRPr>
                      </a:pPr>
                      <a:r>
                        <a:t>95.95 ± 1.57</a:t>
                      </a:r>
                    </a:p>
                  </a:txBody>
                  <a:tcPr>
                    <a:solidFill>
                      <a:srgbClr val="F1F5F9"/>
                    </a:solidFill>
                  </a:tcPr>
                </a:tc>
                <a:tc>
                  <a:txBody>
                    <a:bodyPr/>
                    <a:lstStyle/>
                    <a:p>
                      <a:pPr>
                        <a:defRPr sz="1100">
                          <a:solidFill>
                            <a:srgbClr val="1E293B"/>
                          </a:solidFill>
                        </a:defRPr>
                      </a:pPr>
                      <a:r>
                        <a:t>93.13 ± 3.17</a:t>
                      </a:r>
                    </a:p>
                  </a:txBody>
                  <a:tcPr>
                    <a:solidFill>
                      <a:srgbClr val="F1F5F9"/>
                    </a:solidFill>
                  </a:tcPr>
                </a:tc>
                <a:tc>
                  <a:txBody>
                    <a:bodyPr/>
                    <a:lstStyle/>
                    <a:p>
                      <a:pPr>
                        <a:defRPr sz="1100">
                          <a:solidFill>
                            <a:srgbClr val="1E293B"/>
                          </a:solidFill>
                        </a:defRPr>
                      </a:pPr>
                      <a:r>
                        <a:t>92.33 ± 3.44</a:t>
                      </a:r>
                    </a:p>
                  </a:txBody>
                  <a:tcPr>
                    <a:solidFill>
                      <a:srgbClr val="F1F5F9"/>
                    </a:solidFill>
                  </a:tcPr>
                </a:tc>
                <a:tc>
                  <a:txBody>
                    <a:bodyPr/>
                    <a:lstStyle/>
                    <a:p>
                      <a:pPr>
                        <a:defRPr sz="1100">
                          <a:solidFill>
                            <a:srgbClr val="1E293B"/>
                          </a:solidFill>
                        </a:defRPr>
                      </a:pPr>
                      <a:r>
                        <a:t>92.70 ± 2.87</a:t>
                      </a:r>
                    </a:p>
                  </a:txBody>
                  <a:tcPr>
                    <a:solidFill>
                      <a:srgbClr val="F1F5F9"/>
                    </a:solidFill>
                  </a:tcPr>
                </a:tc>
              </a:tr>
              <a:tr h="487680">
                <a:tc>
                  <a:txBody>
                    <a:bodyPr/>
                    <a:lstStyle/>
                    <a:p>
                      <a:pPr>
                        <a:defRPr sz="1100">
                          <a:solidFill>
                            <a:srgbClr val="1E293B"/>
                          </a:solidFill>
                        </a:defRPr>
                      </a:pPr>
                      <a:r>
                        <a:t>FPT ViBERT-base</a:t>
                      </a:r>
                    </a:p>
                  </a:txBody>
                  <a:tcPr>
                    <a:solidFill>
                      <a:srgbClr val="FFFFFF"/>
                    </a:solidFill>
                  </a:tcPr>
                </a:tc>
                <a:tc>
                  <a:txBody>
                    <a:bodyPr/>
                    <a:lstStyle/>
                    <a:p>
                      <a:pPr>
                        <a:defRPr sz="1100">
                          <a:solidFill>
                            <a:srgbClr val="1E293B"/>
                          </a:solidFill>
                        </a:defRPr>
                      </a:pPr>
                      <a:r>
                        <a:t>Baseline B2.2</a:t>
                      </a:r>
                    </a:p>
                  </a:txBody>
                  <a:tcPr>
                    <a:solidFill>
                      <a:srgbClr val="FFFFFF"/>
                    </a:solidFill>
                  </a:tcPr>
                </a:tc>
                <a:tc>
                  <a:txBody>
                    <a:bodyPr/>
                    <a:lstStyle/>
                    <a:p>
                      <a:pPr>
                        <a:defRPr sz="1100">
                          <a:solidFill>
                            <a:srgbClr val="1E293B"/>
                          </a:solidFill>
                        </a:defRPr>
                      </a:pPr>
                      <a:r>
                        <a:t>95.04 ± 1.11</a:t>
                      </a:r>
                    </a:p>
                  </a:txBody>
                  <a:tcPr>
                    <a:solidFill>
                      <a:srgbClr val="FFFFFF"/>
                    </a:solidFill>
                  </a:tcPr>
                </a:tc>
                <a:tc>
                  <a:txBody>
                    <a:bodyPr/>
                    <a:lstStyle/>
                    <a:p>
                      <a:pPr>
                        <a:defRPr sz="1100">
                          <a:solidFill>
                            <a:srgbClr val="1E293B"/>
                          </a:solidFill>
                        </a:defRPr>
                      </a:pPr>
                      <a:r>
                        <a:t>90.10 ± 4.12</a:t>
                      </a:r>
                    </a:p>
                  </a:txBody>
                  <a:tcPr>
                    <a:solidFill>
                      <a:srgbClr val="FFFFFF"/>
                    </a:solidFill>
                  </a:tcPr>
                </a:tc>
                <a:tc>
                  <a:txBody>
                    <a:bodyPr/>
                    <a:lstStyle/>
                    <a:p>
                      <a:pPr>
                        <a:defRPr sz="1100">
                          <a:solidFill>
                            <a:srgbClr val="1E293B"/>
                          </a:solidFill>
                        </a:defRPr>
                      </a:pPr>
                      <a:r>
                        <a:t>92.60 ± 2.84</a:t>
                      </a:r>
                    </a:p>
                  </a:txBody>
                  <a:tcPr>
                    <a:solidFill>
                      <a:srgbClr val="FFFFFF"/>
                    </a:solidFill>
                  </a:tcPr>
                </a:tc>
                <a:tc>
                  <a:txBody>
                    <a:bodyPr/>
                    <a:lstStyle/>
                    <a:p>
                      <a:pPr>
                        <a:defRPr sz="1100">
                          <a:solidFill>
                            <a:srgbClr val="1E293B"/>
                          </a:solidFill>
                        </a:defRPr>
                      </a:pPr>
                      <a:r>
                        <a:t>91.25 ± 1.81</a:t>
                      </a:r>
                    </a:p>
                  </a:txBody>
                  <a:tcPr>
                    <a:solidFill>
                      <a:srgbClr val="FFFFFF"/>
                    </a:solidFill>
                  </a:tcPr>
                </a:tc>
              </a:tr>
              <a:tr h="487680">
                <a:tc>
                  <a:txBody>
                    <a:bodyPr/>
                    <a:lstStyle/>
                    <a:p>
                      <a:pPr>
                        <a:defRPr sz="1100">
                          <a:solidFill>
                            <a:srgbClr val="1E293B"/>
                          </a:solidFill>
                        </a:defRPr>
                      </a:pPr>
                      <a:r>
                        <a:t>PhoBERT-base-v2</a:t>
                      </a:r>
                    </a:p>
                  </a:txBody>
                  <a:tcPr>
                    <a:solidFill>
                      <a:srgbClr val="F1F5F9"/>
                    </a:solidFill>
                  </a:tcPr>
                </a:tc>
                <a:tc>
                  <a:txBody>
                    <a:bodyPr/>
                    <a:lstStyle/>
                    <a:p>
                      <a:pPr>
                        <a:defRPr sz="1100">
                          <a:solidFill>
                            <a:srgbClr val="1E293B"/>
                          </a:solidFill>
                        </a:defRPr>
                      </a:pPr>
                      <a:r>
                        <a:t>Baseline B2.1</a:t>
                      </a:r>
                    </a:p>
                  </a:txBody>
                  <a:tcPr>
                    <a:solidFill>
                      <a:srgbClr val="F1F5F9"/>
                    </a:solidFill>
                  </a:tcPr>
                </a:tc>
                <a:tc>
                  <a:txBody>
                    <a:bodyPr/>
                    <a:lstStyle/>
                    <a:p>
                      <a:pPr>
                        <a:defRPr sz="1100">
                          <a:solidFill>
                            <a:srgbClr val="1E293B"/>
                          </a:solidFill>
                        </a:defRPr>
                      </a:pPr>
                      <a:r>
                        <a:t>95.11 ± 0.83</a:t>
                      </a:r>
                    </a:p>
                  </a:txBody>
                  <a:tcPr>
                    <a:solidFill>
                      <a:srgbClr val="F1F5F9"/>
                    </a:solidFill>
                  </a:tcPr>
                </a:tc>
                <a:tc>
                  <a:txBody>
                    <a:bodyPr/>
                    <a:lstStyle/>
                    <a:p>
                      <a:pPr>
                        <a:defRPr sz="1100">
                          <a:solidFill>
                            <a:srgbClr val="1E293B"/>
                          </a:solidFill>
                        </a:defRPr>
                      </a:pPr>
                      <a:r>
                        <a:t>91.24 ± 1.52</a:t>
                      </a:r>
                    </a:p>
                  </a:txBody>
                  <a:tcPr>
                    <a:solidFill>
                      <a:srgbClr val="F1F5F9"/>
                    </a:solidFill>
                  </a:tcPr>
                </a:tc>
                <a:tc>
                  <a:txBody>
                    <a:bodyPr/>
                    <a:lstStyle/>
                    <a:p>
                      <a:pPr>
                        <a:defRPr sz="1100">
                          <a:solidFill>
                            <a:srgbClr val="1E293B"/>
                          </a:solidFill>
                        </a:defRPr>
                      </a:pPr>
                      <a:r>
                        <a:t>91.23 ± 1.84</a:t>
                      </a:r>
                    </a:p>
                  </a:txBody>
                  <a:tcPr>
                    <a:solidFill>
                      <a:srgbClr val="F1F5F9"/>
                    </a:solidFill>
                  </a:tcPr>
                </a:tc>
                <a:tc>
                  <a:txBody>
                    <a:bodyPr/>
                    <a:lstStyle/>
                    <a:p>
                      <a:pPr>
                        <a:defRPr sz="1100">
                          <a:solidFill>
                            <a:srgbClr val="1E293B"/>
                          </a:solidFill>
                        </a:defRPr>
                      </a:pPr>
                      <a:r>
                        <a:t>91.23 ± 1.50</a:t>
                      </a:r>
                    </a:p>
                  </a:txBody>
                  <a:tcPr>
                    <a:solidFill>
                      <a:srgbClr val="F1F5F9"/>
                    </a:solidFill>
                  </a:tcPr>
                </a:tc>
              </a:tr>
              <a:tr h="487680">
                <a:tc>
                  <a:txBody>
                    <a:bodyPr/>
                    <a:lstStyle/>
                    <a:p>
                      <a:pPr>
                        <a:defRPr sz="1100">
                          <a:solidFill>
                            <a:srgbClr val="1E293B"/>
                          </a:solidFill>
                        </a:defRPr>
                      </a:pPr>
                      <a:r>
                        <a:t>Gemini 3.5 Flash (5-shot)</a:t>
                      </a:r>
                    </a:p>
                  </a:txBody>
                  <a:tcPr>
                    <a:solidFill>
                      <a:srgbClr val="FFFFFF"/>
                    </a:solidFill>
                  </a:tcPr>
                </a:tc>
                <a:tc>
                  <a:txBody>
                    <a:bodyPr/>
                    <a:lstStyle/>
                    <a:p>
                      <a:pPr>
                        <a:defRPr sz="1100">
                          <a:solidFill>
                            <a:srgbClr val="1E293B"/>
                          </a:solidFill>
                        </a:defRPr>
                      </a:pPr>
                      <a:r>
                        <a:t>Baseline B3 (Cloud)</a:t>
                      </a:r>
                    </a:p>
                  </a:txBody>
                  <a:tcPr>
                    <a:solidFill>
                      <a:srgbClr val="FFFFFF"/>
                    </a:solidFill>
                  </a:tcPr>
                </a:tc>
                <a:tc>
                  <a:txBody>
                    <a:bodyPr/>
                    <a:lstStyle/>
                    <a:p>
                      <a:pPr>
                        <a:defRPr sz="1100">
                          <a:solidFill>
                            <a:srgbClr val="1E293B"/>
                          </a:solidFill>
                        </a:defRPr>
                      </a:pPr>
                      <a:r>
                        <a:t>84.50 ± 1.02</a:t>
                      </a:r>
                    </a:p>
                  </a:txBody>
                  <a:tcPr>
                    <a:solidFill>
                      <a:srgbClr val="FFFFFF"/>
                    </a:solidFill>
                  </a:tcPr>
                </a:tc>
                <a:tc>
                  <a:txBody>
                    <a:bodyPr/>
                    <a:lstStyle/>
                    <a:p>
                      <a:pPr>
                        <a:defRPr sz="1100">
                          <a:solidFill>
                            <a:srgbClr val="1E293B"/>
                          </a:solidFill>
                        </a:defRPr>
                      </a:pPr>
                      <a:r>
                        <a:t>64.47 ± 1.52</a:t>
                      </a:r>
                    </a:p>
                  </a:txBody>
                  <a:tcPr>
                    <a:solidFill>
                      <a:srgbClr val="FFFFFF"/>
                    </a:solidFill>
                  </a:tcPr>
                </a:tc>
                <a:tc>
                  <a:txBody>
                    <a:bodyPr/>
                    <a:lstStyle/>
                    <a:p>
                      <a:pPr>
                        <a:defRPr sz="1100">
                          <a:solidFill>
                            <a:srgbClr val="1E293B"/>
                          </a:solidFill>
                        </a:defRPr>
                      </a:pPr>
                      <a:r>
                        <a:t>100.00 ± 0.00</a:t>
                      </a:r>
                    </a:p>
                  </a:txBody>
                  <a:tcPr>
                    <a:solidFill>
                      <a:srgbClr val="FFFFFF"/>
                    </a:solidFill>
                  </a:tcPr>
                </a:tc>
                <a:tc>
                  <a:txBody>
                    <a:bodyPr/>
                    <a:lstStyle/>
                    <a:p>
                      <a:pPr>
                        <a:defRPr sz="1100">
                          <a:solidFill>
                            <a:srgbClr val="1E293B"/>
                          </a:solidFill>
                        </a:defRPr>
                      </a:pPr>
                      <a:r>
                        <a:t>78.38 ± 1.12</a:t>
                      </a:r>
                    </a:p>
                  </a:txBody>
                  <a:tcPr>
                    <a:solidFill>
                      <a:srgbClr val="FFFFFF"/>
                    </a:solidFill>
                  </a:tcPr>
                </a:tc>
              </a:tr>
            </a:tbl>
          </a:graphicData>
        </a:graphic>
      </p:graphicFrame>
      <p:sp>
        <p:nvSpPr>
          <p:cNvPr id="4" name="Rounded Rectangle 3"/>
          <p:cNvSpPr/>
          <p:nvPr/>
        </p:nvSpPr>
        <p:spPr>
          <a:xfrm>
            <a:off x="731520" y="4663440"/>
            <a:ext cx="10698480" cy="164592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754880"/>
            <a:ext cx="10332720" cy="1371600"/>
          </a:xfrm>
          <a:prstGeom prst="rect">
            <a:avLst/>
          </a:prstGeom>
          <a:noFill/>
        </p:spPr>
        <p:txBody>
          <a:bodyPr wrap="square">
            <a:spAutoFit/>
          </a:bodyPr>
          <a:lstStyle/>
          <a:p>
            <a:pPr>
              <a:defRPr b="1" sz="1300">
                <a:solidFill>
                  <a:srgbClr val="2563EB"/>
                </a:solidFill>
              </a:defRPr>
            </a:pPr>
            <a:r>
              <a:t>NHẬN XÉT CỐT LÕI TỪ SỐ LIỆU:</a:t>
            </a:r>
          </a:p>
          <a:p>
            <a:pPr>
              <a:defRPr sz="1200"/>
            </a:pPr>
            <a:r>
              <a:t>1. ViSoBERT đạt Scam Recall cao nhất trong nhóm mô hình máy cục bộ (95.62%), vượt trội ngưỡng an toàn 95.0%.</a:t>
            </a:r>
            <a:br/>
            <a:r>
              <a:t>2. PhoBERT-large tuy lớn gấp 3.8 lần nhưng Recall chỉ đạt 92.33% (bỏ lọt thêm 3.29% tin nhắn lừa đảo).</a:t>
            </a:r>
            <a:br/>
            <a:r>
              <a:t>3. Gemini 3.5 Flash đạt 100% Recall nhưng Precision sụp đổ còn 64.47% (chặn nhầm 1 trên 3 tin nhắn bình thường).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914400"/>
          </a:xfrm>
          <a:prstGeom prst="rect">
            <a:avLst/>
          </a:prstGeom>
          <a:noFill/>
        </p:spPr>
        <p:txBody>
          <a:bodyPr wrap="square" lIns="0" tIns="0" rIns="0" bIns="0">
            <a:spAutoFit/>
          </a:bodyPr>
          <a:lstStyle/>
          <a:p>
            <a:pPr>
              <a:defRPr sz="1100" b="1">
                <a:solidFill>
                  <a:srgbClr val="2563EB"/>
                </a:solidFill>
              </a:defRPr>
            </a:pPr>
            <a:r>
              <a:t>SCAMSHIELD-VN · RBL SCIENTIFIC DEFENSE</a:t>
            </a:r>
          </a:p>
          <a:p>
            <a:pPr>
              <a:defRPr sz="2200" b="1">
                <a:solidFill>
                  <a:srgbClr val="182B49"/>
                </a:solidFill>
              </a:defRPr>
            </a:pPr>
            <a:r>
              <a:t>6. Kiểm Định Thống Kê Cặp (McNemar's Paired Analysis)</a:t>
            </a:r>
          </a:p>
        </p:txBody>
      </p:sp>
      <p:sp>
        <p:nvSpPr>
          <p:cNvPr id="3" name="Rounded Rectangle 2"/>
          <p:cNvSpPr/>
          <p:nvPr/>
        </p:nvSpPr>
        <p:spPr>
          <a:xfrm>
            <a:off x="731520" y="1463040"/>
            <a:ext cx="10698480" cy="29260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822960" y="1645920"/>
          <a:ext cx="10515600" cy="2468880"/>
        </p:xfrm>
        <a:graphic>
          <a:graphicData uri="http://schemas.openxmlformats.org/drawingml/2006/table">
            <a:tbl>
              <a:tblPr firstRow="1" bandRow="1">
                <a:tableStyleId>{5C22544A-7EE6-4342-B048-85BDC9FD1C3A}</a:tableStyleId>
              </a:tblPr>
              <a:tblGrid>
                <a:gridCol w="1502228"/>
                <a:gridCol w="1502228"/>
                <a:gridCol w="1502228"/>
                <a:gridCol w="1502228"/>
                <a:gridCol w="1502228"/>
                <a:gridCol w="1502228"/>
                <a:gridCol w="1502232"/>
              </a:tblGrid>
              <a:tr h="493776">
                <a:tc>
                  <a:txBody>
                    <a:bodyPr/>
                    <a:lstStyle/>
                    <a:p>
                      <a:pPr>
                        <a:defRPr b="1" sz="1100">
                          <a:solidFill>
                            <a:srgbClr val="F8FAFC"/>
                          </a:solidFill>
                        </a:defRPr>
                      </a:pPr>
                      <a:r>
                        <a:t>So sánh Cặp (Pairwise)</a:t>
                      </a:r>
                    </a:p>
                  </a:txBody>
                  <a:tcPr>
                    <a:solidFill>
                      <a:srgbClr val="182B49"/>
                    </a:solidFill>
                  </a:tcPr>
                </a:tc>
                <a:tc>
                  <a:txBody>
                    <a:bodyPr/>
                    <a:lstStyle/>
                    <a:p>
                      <a:pPr>
                        <a:defRPr b="1" sz="1100">
                          <a:solidFill>
                            <a:srgbClr val="F8FAFC"/>
                          </a:solidFill>
                        </a:defRPr>
                      </a:pPr>
                      <a:r>
                        <a:t>b (ViSoBERT+)</a:t>
                      </a:r>
                    </a:p>
                  </a:txBody>
                  <a:tcPr>
                    <a:solidFill>
                      <a:srgbClr val="182B49"/>
                    </a:solidFill>
                  </a:tcPr>
                </a:tc>
                <a:tc>
                  <a:txBody>
                    <a:bodyPr/>
                    <a:lstStyle/>
                    <a:p>
                      <a:pPr>
                        <a:defRPr b="1" sz="1100">
                          <a:solidFill>
                            <a:srgbClr val="F8FAFC"/>
                          </a:solidFill>
                        </a:defRPr>
                      </a:pPr>
                      <a:r>
                        <a:t>c (Base+)</a:t>
                      </a:r>
                    </a:p>
                  </a:txBody>
                  <a:tcPr>
                    <a:solidFill>
                      <a:srgbClr val="182B49"/>
                    </a:solidFill>
                  </a:tcPr>
                </a:tc>
                <a:tc>
                  <a:txBody>
                    <a:bodyPr/>
                    <a:lstStyle/>
                    <a:p>
                      <a:pPr>
                        <a:defRPr b="1" sz="1100">
                          <a:solidFill>
                            <a:srgbClr val="F8FAFC"/>
                          </a:solidFill>
                        </a:defRPr>
                      </a:pPr>
                      <a:r>
                        <a:t>chi2 (cont)</a:t>
                      </a:r>
                    </a:p>
                  </a:txBody>
                  <a:tcPr>
                    <a:solidFill>
                      <a:srgbClr val="182B49"/>
                    </a:solidFill>
                  </a:tcPr>
                </a:tc>
                <a:tc>
                  <a:txBody>
                    <a:bodyPr/>
                    <a:lstStyle/>
                    <a:p>
                      <a:pPr>
                        <a:defRPr b="1" sz="1100">
                          <a:solidFill>
                            <a:srgbClr val="F8FAFC"/>
                          </a:solidFill>
                        </a:defRPr>
                      </a:pPr>
                      <a:r>
                        <a:t>Exact p-value</a:t>
                      </a:r>
                    </a:p>
                  </a:txBody>
                  <a:tcPr>
                    <a:solidFill>
                      <a:srgbClr val="182B49"/>
                    </a:solidFill>
                  </a:tcPr>
                </a:tc>
                <a:tc>
                  <a:txBody>
                    <a:bodyPr/>
                    <a:lstStyle/>
                    <a:p>
                      <a:pPr>
                        <a:defRPr b="1" sz="1100">
                          <a:solidFill>
                            <a:srgbClr val="F8FAFC"/>
                          </a:solidFill>
                        </a:defRPr>
                      </a:pPr>
                      <a:r>
                        <a:t>Odds Ratio</a:t>
                      </a:r>
                    </a:p>
                  </a:txBody>
                  <a:tcPr>
                    <a:solidFill>
                      <a:srgbClr val="182B49"/>
                    </a:solidFill>
                  </a:tcPr>
                </a:tc>
                <a:tc>
                  <a:txBody>
                    <a:bodyPr/>
                    <a:lstStyle/>
                    <a:p>
                      <a:pPr>
                        <a:defRPr b="1" sz="1100">
                          <a:solidFill>
                            <a:srgbClr val="F8FAFC"/>
                          </a:solidFill>
                        </a:defRPr>
                      </a:pPr>
                      <a:r>
                        <a:t>Bác bỏ H0?</a:t>
                      </a:r>
                    </a:p>
                  </a:txBody>
                  <a:tcPr>
                    <a:solidFill>
                      <a:srgbClr val="182B49"/>
                    </a:solidFill>
                  </a:tcPr>
                </a:tc>
              </a:tr>
              <a:tr h="493776">
                <a:tc>
                  <a:txBody>
                    <a:bodyPr/>
                    <a:lstStyle/>
                    <a:p>
                      <a:pPr>
                        <a:defRPr sz="1100">
                          <a:solidFill>
                            <a:srgbClr val="1E293B"/>
                          </a:solidFill>
                        </a:defRPr>
                      </a:pPr>
                      <a:r>
                        <a:t>ViSoBERT vs. PhoBERT-base-v2</a:t>
                      </a:r>
                    </a:p>
                  </a:txBody>
                  <a:tcPr>
                    <a:solidFill>
                      <a:srgbClr val="FFFFFF"/>
                    </a:solidFill>
                  </a:tcPr>
                </a:tc>
                <a:tc>
                  <a:txBody>
                    <a:bodyPr/>
                    <a:lstStyle/>
                    <a:p>
                      <a:pPr>
                        <a:defRPr sz="1100">
                          <a:solidFill>
                            <a:srgbClr val="1E293B"/>
                          </a:solidFill>
                        </a:defRPr>
                      </a:pPr>
                      <a:r>
                        <a:t>12</a:t>
                      </a:r>
                    </a:p>
                  </a:txBody>
                  <a:tcPr>
                    <a:solidFill>
                      <a:srgbClr val="FFFFFF"/>
                    </a:solidFill>
                  </a:tcPr>
                </a:tc>
                <a:tc>
                  <a:txBody>
                    <a:bodyPr/>
                    <a:lstStyle/>
                    <a:p>
                      <a:pPr>
                        <a:defRPr sz="1100">
                          <a:solidFill>
                            <a:srgbClr val="1E293B"/>
                          </a:solidFill>
                        </a:defRPr>
                      </a:pPr>
                      <a:r>
                        <a:t>4</a:t>
                      </a:r>
                    </a:p>
                  </a:txBody>
                  <a:tcPr>
                    <a:solidFill>
                      <a:srgbClr val="FFFFFF"/>
                    </a:solidFill>
                  </a:tcPr>
                </a:tc>
                <a:tc>
                  <a:txBody>
                    <a:bodyPr/>
                    <a:lstStyle/>
                    <a:p>
                      <a:pPr>
                        <a:defRPr sz="1100">
                          <a:solidFill>
                            <a:srgbClr val="1E293B"/>
                          </a:solidFill>
                        </a:defRPr>
                      </a:pPr>
                      <a:r>
                        <a:t>3.0625</a:t>
                      </a:r>
                    </a:p>
                  </a:txBody>
                  <a:tcPr>
                    <a:solidFill>
                      <a:srgbClr val="FFFFFF"/>
                    </a:solidFill>
                  </a:tcPr>
                </a:tc>
                <a:tc>
                  <a:txBody>
                    <a:bodyPr/>
                    <a:lstStyle/>
                    <a:p>
                      <a:pPr>
                        <a:defRPr sz="1100">
                          <a:solidFill>
                            <a:srgbClr val="1E293B"/>
                          </a:solidFill>
                        </a:defRPr>
                      </a:pPr>
                      <a:r>
                        <a:t>0.0768</a:t>
                      </a:r>
                    </a:p>
                  </a:txBody>
                  <a:tcPr>
                    <a:solidFill>
                      <a:srgbClr val="FFFFFF"/>
                    </a:solidFill>
                  </a:tcPr>
                </a:tc>
                <a:tc>
                  <a:txBody>
                    <a:bodyPr/>
                    <a:lstStyle/>
                    <a:p>
                      <a:pPr>
                        <a:defRPr sz="1100">
                          <a:solidFill>
                            <a:srgbClr val="1E293B"/>
                          </a:solidFill>
                        </a:defRPr>
                      </a:pPr>
                      <a:r>
                        <a:t>3.00</a:t>
                      </a:r>
                    </a:p>
                  </a:txBody>
                  <a:tcPr>
                    <a:solidFill>
                      <a:srgbClr val="FFFFFF"/>
                    </a:solidFill>
                  </a:tcPr>
                </a:tc>
                <a:tc>
                  <a:txBody>
                    <a:bodyPr/>
                    <a:lstStyle/>
                    <a:p>
                      <a:pPr>
                        <a:defRPr sz="1100">
                          <a:solidFill>
                            <a:srgbClr val="1E293B"/>
                          </a:solidFill>
                        </a:defRPr>
                      </a:pPr>
                      <a:r>
                        <a:t>Chưa đủ cơ sở</a:t>
                      </a:r>
                    </a:p>
                  </a:txBody>
                  <a:tcPr>
                    <a:solidFill>
                      <a:srgbClr val="FFFFFF"/>
                    </a:solidFill>
                  </a:tcPr>
                </a:tc>
              </a:tr>
              <a:tr h="493776">
                <a:tc>
                  <a:txBody>
                    <a:bodyPr/>
                    <a:lstStyle/>
                    <a:p>
                      <a:pPr>
                        <a:defRPr sz="1100">
                          <a:solidFill>
                            <a:srgbClr val="1E293B"/>
                          </a:solidFill>
                        </a:defRPr>
                      </a:pPr>
                      <a:r>
                        <a:t>ViSoBERT vs. FPT ViBERT-base</a:t>
                      </a:r>
                    </a:p>
                  </a:txBody>
                  <a:tcPr>
                    <a:solidFill>
                      <a:srgbClr val="FFFFFF"/>
                    </a:solidFill>
                  </a:tcPr>
                </a:tc>
                <a:tc>
                  <a:txBody>
                    <a:bodyPr/>
                    <a:lstStyle/>
                    <a:p>
                      <a:pPr>
                        <a:defRPr sz="1100">
                          <a:solidFill>
                            <a:srgbClr val="1E293B"/>
                          </a:solidFill>
                        </a:defRPr>
                      </a:pPr>
                      <a:r>
                        <a:t>14</a:t>
                      </a:r>
                    </a:p>
                  </a:txBody>
                  <a:tcPr>
                    <a:solidFill>
                      <a:srgbClr val="FFFFFF"/>
                    </a:solidFill>
                  </a:tcPr>
                </a:tc>
                <a:tc>
                  <a:txBody>
                    <a:bodyPr/>
                    <a:lstStyle/>
                    <a:p>
                      <a:pPr>
                        <a:defRPr sz="1100">
                          <a:solidFill>
                            <a:srgbClr val="1E293B"/>
                          </a:solidFill>
                        </a:defRPr>
                      </a:pPr>
                      <a:r>
                        <a:t>5</a:t>
                      </a:r>
                    </a:p>
                  </a:txBody>
                  <a:tcPr>
                    <a:solidFill>
                      <a:srgbClr val="FFFFFF"/>
                    </a:solidFill>
                  </a:tcPr>
                </a:tc>
                <a:tc>
                  <a:txBody>
                    <a:bodyPr/>
                    <a:lstStyle/>
                    <a:p>
                      <a:pPr>
                        <a:defRPr sz="1100">
                          <a:solidFill>
                            <a:srgbClr val="1E293B"/>
                          </a:solidFill>
                        </a:defRPr>
                      </a:pPr>
                      <a:r>
                        <a:t>3.3684</a:t>
                      </a:r>
                    </a:p>
                  </a:txBody>
                  <a:tcPr>
                    <a:solidFill>
                      <a:srgbClr val="FFFFFF"/>
                    </a:solidFill>
                  </a:tcPr>
                </a:tc>
                <a:tc>
                  <a:txBody>
                    <a:bodyPr/>
                    <a:lstStyle/>
                    <a:p>
                      <a:pPr>
                        <a:defRPr sz="1100">
                          <a:solidFill>
                            <a:srgbClr val="1E293B"/>
                          </a:solidFill>
                        </a:defRPr>
                      </a:pPr>
                      <a:r>
                        <a:t>0.0636</a:t>
                      </a:r>
                    </a:p>
                  </a:txBody>
                  <a:tcPr>
                    <a:solidFill>
                      <a:srgbClr val="FFFFFF"/>
                    </a:solidFill>
                  </a:tcPr>
                </a:tc>
                <a:tc>
                  <a:txBody>
                    <a:bodyPr/>
                    <a:lstStyle/>
                    <a:p>
                      <a:pPr>
                        <a:defRPr sz="1100">
                          <a:solidFill>
                            <a:srgbClr val="1E293B"/>
                          </a:solidFill>
                        </a:defRPr>
                      </a:pPr>
                      <a:r>
                        <a:t>2.80</a:t>
                      </a:r>
                    </a:p>
                  </a:txBody>
                  <a:tcPr>
                    <a:solidFill>
                      <a:srgbClr val="FFFFFF"/>
                    </a:solidFill>
                  </a:tcPr>
                </a:tc>
                <a:tc>
                  <a:txBody>
                    <a:bodyPr/>
                    <a:lstStyle/>
                    <a:p>
                      <a:pPr>
                        <a:defRPr sz="1100">
                          <a:solidFill>
                            <a:srgbClr val="1E293B"/>
                          </a:solidFill>
                        </a:defRPr>
                      </a:pPr>
                      <a:r>
                        <a:t>Chưa đủ cơ sở</a:t>
                      </a:r>
                    </a:p>
                  </a:txBody>
                  <a:tcPr>
                    <a:solidFill>
                      <a:srgbClr val="FFFFFF"/>
                    </a:solidFill>
                  </a:tcPr>
                </a:tc>
              </a:tr>
              <a:tr h="493776">
                <a:tc>
                  <a:txBody>
                    <a:bodyPr/>
                    <a:lstStyle/>
                    <a:p>
                      <a:pPr>
                        <a:defRPr sz="1100">
                          <a:solidFill>
                            <a:srgbClr val="1E293B"/>
                          </a:solidFill>
                        </a:defRPr>
                      </a:pPr>
                      <a:r>
                        <a:t>ViSoBERT vs. PhoBERT-large</a:t>
                      </a:r>
                    </a:p>
                  </a:txBody>
                  <a:tcPr>
                    <a:solidFill>
                      <a:srgbClr val="FFFFFF"/>
                    </a:solidFill>
                  </a:tcPr>
                </a:tc>
                <a:tc>
                  <a:txBody>
                    <a:bodyPr/>
                    <a:lstStyle/>
                    <a:p>
                      <a:pPr>
                        <a:defRPr sz="1100">
                          <a:solidFill>
                            <a:srgbClr val="1E293B"/>
                          </a:solidFill>
                        </a:defRPr>
                      </a:pPr>
                      <a:r>
                        <a:t>9</a:t>
                      </a:r>
                    </a:p>
                  </a:txBody>
                  <a:tcPr>
                    <a:solidFill>
                      <a:srgbClr val="FFFFFF"/>
                    </a:solidFill>
                  </a:tcPr>
                </a:tc>
                <a:tc>
                  <a:txBody>
                    <a:bodyPr/>
                    <a:lstStyle/>
                    <a:p>
                      <a:pPr>
                        <a:defRPr sz="1100">
                          <a:solidFill>
                            <a:srgbClr val="1E293B"/>
                          </a:solidFill>
                        </a:defRPr>
                      </a:pPr>
                      <a:r>
                        <a:t>3</a:t>
                      </a:r>
                    </a:p>
                  </a:txBody>
                  <a:tcPr>
                    <a:solidFill>
                      <a:srgbClr val="FFFFFF"/>
                    </a:solidFill>
                  </a:tcPr>
                </a:tc>
                <a:tc>
                  <a:txBody>
                    <a:bodyPr/>
                    <a:lstStyle/>
                    <a:p>
                      <a:pPr>
                        <a:defRPr sz="1100">
                          <a:solidFill>
                            <a:srgbClr val="1E293B"/>
                          </a:solidFill>
                        </a:defRPr>
                      </a:pPr>
                      <a:r>
                        <a:t>2.0833</a:t>
                      </a:r>
                    </a:p>
                  </a:txBody>
                  <a:tcPr>
                    <a:solidFill>
                      <a:srgbClr val="FFFFFF"/>
                    </a:solidFill>
                  </a:tcPr>
                </a:tc>
                <a:tc>
                  <a:txBody>
                    <a:bodyPr/>
                    <a:lstStyle/>
                    <a:p>
                      <a:pPr>
                        <a:defRPr sz="1100">
                          <a:solidFill>
                            <a:srgbClr val="1E293B"/>
                          </a:solidFill>
                        </a:defRPr>
                      </a:pPr>
                      <a:r>
                        <a:t>0.1460</a:t>
                      </a:r>
                    </a:p>
                  </a:txBody>
                  <a:tcPr>
                    <a:solidFill>
                      <a:srgbClr val="FFFFFF"/>
                    </a:solidFill>
                  </a:tcPr>
                </a:tc>
                <a:tc>
                  <a:txBody>
                    <a:bodyPr/>
                    <a:lstStyle/>
                    <a:p>
                      <a:pPr>
                        <a:defRPr sz="1100">
                          <a:solidFill>
                            <a:srgbClr val="1E293B"/>
                          </a:solidFill>
                        </a:defRPr>
                      </a:pPr>
                      <a:r>
                        <a:t>3.00</a:t>
                      </a:r>
                    </a:p>
                  </a:txBody>
                  <a:tcPr>
                    <a:solidFill>
                      <a:srgbClr val="FFFFFF"/>
                    </a:solidFill>
                  </a:tcPr>
                </a:tc>
                <a:tc>
                  <a:txBody>
                    <a:bodyPr/>
                    <a:lstStyle/>
                    <a:p>
                      <a:pPr>
                        <a:defRPr sz="1100">
                          <a:solidFill>
                            <a:srgbClr val="1E293B"/>
                          </a:solidFill>
                        </a:defRPr>
                      </a:pPr>
                      <a:r>
                        <a:t>Chưa đủ cơ sở</a:t>
                      </a:r>
                    </a:p>
                  </a:txBody>
                  <a:tcPr>
                    <a:solidFill>
                      <a:srgbClr val="FFFFFF"/>
                    </a:solidFill>
                  </a:tcPr>
                </a:tc>
              </a:tr>
              <a:tr h="493776">
                <a:tc>
                  <a:txBody>
                    <a:bodyPr/>
                    <a:lstStyle/>
                    <a:p>
                      <a:pPr>
                        <a:defRPr sz="1100" b="1">
                          <a:solidFill>
                            <a:srgbClr val="DC2626"/>
                          </a:solidFill>
                        </a:defRPr>
                      </a:pPr>
                      <a:r>
                        <a:t>ViSoBERT vs. Gemini 3.5 Flash</a:t>
                      </a:r>
                    </a:p>
                  </a:txBody>
                  <a:tcPr>
                    <a:solidFill>
                      <a:srgbClr val="FEE2E2"/>
                    </a:solidFill>
                  </a:tcPr>
                </a:tc>
                <a:tc>
                  <a:txBody>
                    <a:bodyPr/>
                    <a:lstStyle/>
                    <a:p>
                      <a:pPr>
                        <a:defRPr sz="1100" b="1">
                          <a:solidFill>
                            <a:srgbClr val="DC2626"/>
                          </a:solidFill>
                        </a:defRPr>
                      </a:pPr>
                      <a:r>
                        <a:t>38</a:t>
                      </a:r>
                    </a:p>
                  </a:txBody>
                  <a:tcPr>
                    <a:solidFill>
                      <a:srgbClr val="FEE2E2"/>
                    </a:solidFill>
                  </a:tcPr>
                </a:tc>
                <a:tc>
                  <a:txBody>
                    <a:bodyPr/>
                    <a:lstStyle/>
                    <a:p>
                      <a:pPr>
                        <a:defRPr sz="1100" b="1">
                          <a:solidFill>
                            <a:srgbClr val="DC2626"/>
                          </a:solidFill>
                        </a:defRPr>
                      </a:pPr>
                      <a:r>
                        <a:t>2</a:t>
                      </a:r>
                    </a:p>
                  </a:txBody>
                  <a:tcPr>
                    <a:solidFill>
                      <a:srgbClr val="FEE2E2"/>
                    </a:solidFill>
                  </a:tcPr>
                </a:tc>
                <a:tc>
                  <a:txBody>
                    <a:bodyPr/>
                    <a:lstStyle/>
                    <a:p>
                      <a:pPr>
                        <a:defRPr sz="1100" b="1">
                          <a:solidFill>
                            <a:srgbClr val="DC2626"/>
                          </a:solidFill>
                        </a:defRPr>
                      </a:pPr>
                      <a:r>
                        <a:t>30.625</a:t>
                      </a:r>
                    </a:p>
                  </a:txBody>
                  <a:tcPr>
                    <a:solidFill>
                      <a:srgbClr val="FEE2E2"/>
                    </a:solidFill>
                  </a:tcPr>
                </a:tc>
                <a:tc>
                  <a:txBody>
                    <a:bodyPr/>
                    <a:lstStyle/>
                    <a:p>
                      <a:pPr>
                        <a:defRPr sz="1100" b="1">
                          <a:solidFill>
                            <a:srgbClr val="DC2626"/>
                          </a:solidFill>
                        </a:defRPr>
                      </a:pPr>
                      <a:r>
                        <a:t>0.0000</a:t>
                      </a:r>
                    </a:p>
                  </a:txBody>
                  <a:tcPr>
                    <a:solidFill>
                      <a:srgbClr val="FEE2E2"/>
                    </a:solidFill>
                  </a:tcPr>
                </a:tc>
                <a:tc>
                  <a:txBody>
                    <a:bodyPr/>
                    <a:lstStyle/>
                    <a:p>
                      <a:pPr>
                        <a:defRPr sz="1100" b="1">
                          <a:solidFill>
                            <a:srgbClr val="DC2626"/>
                          </a:solidFill>
                        </a:defRPr>
                      </a:pPr>
                      <a:r>
                        <a:t>19.00</a:t>
                      </a:r>
                    </a:p>
                  </a:txBody>
                  <a:tcPr>
                    <a:solidFill>
                      <a:srgbClr val="FEE2E2"/>
                    </a:solidFill>
                  </a:tcPr>
                </a:tc>
                <a:tc>
                  <a:txBody>
                    <a:bodyPr/>
                    <a:lstStyle/>
                    <a:p>
                      <a:pPr>
                        <a:defRPr sz="1100" b="1">
                          <a:solidFill>
                            <a:srgbClr val="DC2626"/>
                          </a:solidFill>
                        </a:defRPr>
                      </a:pPr>
                      <a:r>
                        <a:t>BÁC BỎ H0 (p &lt; 0.001)</a:t>
                      </a:r>
                    </a:p>
                  </a:txBody>
                  <a:tcPr>
                    <a:solidFill>
                      <a:srgbClr val="FEE2E2"/>
                    </a:solidFill>
                  </a:tcPr>
                </a:tc>
              </a:tr>
            </a:tbl>
          </a:graphicData>
        </a:graphic>
      </p:graphicFrame>
      <p:sp>
        <p:nvSpPr>
          <p:cNvPr id="5" name="Rounded Rectangle 4"/>
          <p:cNvSpPr/>
          <p:nvPr/>
        </p:nvSpPr>
        <p:spPr>
          <a:xfrm>
            <a:off x="731520" y="4663440"/>
            <a:ext cx="10698480" cy="164592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754880"/>
            <a:ext cx="10332720" cy="1371600"/>
          </a:xfrm>
          <a:prstGeom prst="rect">
            <a:avLst/>
          </a:prstGeom>
          <a:noFill/>
        </p:spPr>
        <p:txBody>
          <a:bodyPr wrap="square">
            <a:spAutoFit/>
          </a:bodyPr>
          <a:lstStyle/>
          <a:p>
            <a:pPr>
              <a:defRPr b="1" sz="1300">
                <a:solidFill>
                  <a:srgbClr val="2563EB"/>
                </a:solidFill>
              </a:defRPr>
            </a:pPr>
            <a:r>
              <a:t>Ý NGHĨA HỌC THUẬT &amp; TOÁN HỌC:</a:t>
            </a:r>
          </a:p>
          <a:p>
            <a:pPr>
              <a:defRPr sz="1200"/>
            </a:pPr>
            <a:r>
              <a:t>• Bác bỏ dứt điểm H0 khi so với Cloud LLM (p = 0.0000 &lt; 0.001, Odds Ratio = 19.0): ViSoBERT ổn định và tin cậy vượt trội.</a:t>
            </a:r>
            <a:br/>
            <a:r>
              <a:t>• So với các mô hình BERT: Dù p &gt; 0.05 về độ chính xác gộp, Odds Ratio vẫn đạt 2.8 - 3.0 (ViSoBERT đúng gấp 3 lần ở các ca bất đồng).</a:t>
            </a:r>
            <a:br/>
            <a:r>
              <a:t>• ViSoBERT nhẹ hơn 3.8 lần và train nhanh hơn 3.5 lần so với PhoBERT-large -&gt; Đạt điểm tối ưu Pareto hoàn hảo.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914400"/>
          </a:xfrm>
          <a:prstGeom prst="rect">
            <a:avLst/>
          </a:prstGeom>
          <a:noFill/>
        </p:spPr>
        <p:txBody>
          <a:bodyPr wrap="square" lIns="0" tIns="0" rIns="0" bIns="0">
            <a:spAutoFit/>
          </a:bodyPr>
          <a:lstStyle/>
          <a:p>
            <a:pPr>
              <a:defRPr sz="1100" b="1">
                <a:solidFill>
                  <a:srgbClr val="2563EB"/>
                </a:solidFill>
              </a:defRPr>
            </a:pPr>
            <a:r>
              <a:t>SCAMSHIELD-VN · RBL SCIENTIFIC DEFENSE</a:t>
            </a:r>
          </a:p>
          <a:p>
            <a:pPr>
              <a:defRPr sz="2200" b="1">
                <a:solidFill>
                  <a:srgbClr val="182B49"/>
                </a:solidFill>
              </a:defRPr>
            </a:pPr>
            <a:r>
              <a:t>7. Thảo Luận: Cơ Sở Nâng Cấp Hội Đồng 5 AI (Amendment v1.1)</a:t>
            </a:r>
          </a:p>
        </p:txBody>
      </p:sp>
      <p:sp>
        <p:nvSpPr>
          <p:cNvPr id="3" name="Rounded Rectangle 2"/>
          <p:cNvSpPr/>
          <p:nvPr/>
        </p:nvSpPr>
        <p:spPr>
          <a:xfrm>
            <a:off x="731520" y="1463040"/>
            <a:ext cx="5120640"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4754880" cy="4389120"/>
          </a:xfrm>
          <a:prstGeom prst="rect">
            <a:avLst/>
          </a:prstGeom>
          <a:noFill/>
        </p:spPr>
        <p:txBody>
          <a:bodyPr wrap="square">
            <a:spAutoFit/>
          </a:bodyPr>
          <a:lstStyle/>
          <a:p>
            <a:pPr>
              <a:spcAft>
                <a:spcPts val="800"/>
              </a:spcAft>
              <a:defRPr b="1" sz="1500">
                <a:solidFill>
                  <a:srgbClr val="182B49"/>
                </a:solidFill>
              </a:defRPr>
            </a:pPr>
            <a:r>
              <a:t>Nguyên Nhân Single-LLM Bị Alarm Fatigue</a:t>
            </a:r>
          </a:p>
          <a:p>
            <a:pPr>
              <a:defRPr sz="1300"/>
            </a:pPr>
            <a:r>
              <a:t>• Phân tích lỗi: Gemini gắn cờ 'SCAM' cho mọi tin nhắn có từ 'gấp', 'hạn chót', hoặc chứa đường link rút gọn, kể cả thông báo OTP ngân hàng và tin CSKH nhà mạng.</a:t>
            </a:r>
            <a:br/>
            <a:r>
              <a:t>• Tỷ lệ cảnh báo nhầm 35.53% khiến người dùng mất lòng tin và tắt ứng dụng phòng vệ.</a:t>
            </a:r>
            <a:br/>
            <a:r>
              <a:t>• Kết luận: Không thể phó mặc quyết định cho 1 LLM đơn lẻ làm quan tòa duy nhất.</a:t>
            </a:r>
          </a:p>
        </p:txBody>
      </p:sp>
      <p:sp>
        <p:nvSpPr>
          <p:cNvPr id="5" name="Rounded Rectangle 4"/>
          <p:cNvSpPr/>
          <p:nvPr/>
        </p:nvSpPr>
        <p:spPr>
          <a:xfrm>
            <a:off x="6217920" y="1463040"/>
            <a:ext cx="5212080"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0" y="1645920"/>
            <a:ext cx="4846320" cy="4389120"/>
          </a:xfrm>
          <a:prstGeom prst="rect">
            <a:avLst/>
          </a:prstGeom>
          <a:noFill/>
        </p:spPr>
        <p:txBody>
          <a:bodyPr wrap="square">
            <a:spAutoFit/>
          </a:bodyPr>
          <a:lstStyle/>
          <a:p>
            <a:pPr>
              <a:spcAft>
                <a:spcPts val="800"/>
              </a:spcAft>
              <a:defRPr b="1" sz="1500">
                <a:solidFill>
                  <a:srgbClr val="182B49"/>
                </a:solidFill>
              </a:defRPr>
            </a:pPr>
            <a:r>
              <a:t>Giải Pháp: Hội Đồng 5 AI &amp; Public Defender</a:t>
            </a:r>
          </a:p>
          <a:p>
            <a:pPr>
              <a:defRPr sz="1300"/>
            </a:pPr>
            <a:r>
              <a:t>• Nâng cấp Tầng 2 theo Amendment v1.1:</a:t>
            </a:r>
            <a:br/>
            <a:r>
              <a:t>  1. Forensic Lead: Giám định thủ đoạn</a:t>
            </a:r>
            <a:br/>
            <a:r>
              <a:t>  2. Psycholinguistic: Phân tích thao túng tâm lý</a:t>
            </a:r>
            <a:br/>
            <a:r>
              <a:t>  3. Cyber Threat: Đối soát blacklist domain/SĐT</a:t>
            </a:r>
            <a:br/>
            <a:r>
              <a:t>  4. Financial Fraud: Bẫy chuyển tiền &amp; thuế</a:t>
            </a:r>
            <a:br/>
            <a:r>
              <a:t>  5. Public Defender (Devil's Advocate): Tìm lý do bào chữa để triệt tiêu báo động giả cho tin nhắn thật.</a:t>
            </a:r>
            <a:br/>
            <a:r>
              <a:t>• Cơ chế đồng thuận Majority Voting hạ tỷ lệ báo động giả về &lt;2%.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914400"/>
          </a:xfrm>
          <a:prstGeom prst="rect">
            <a:avLst/>
          </a:prstGeom>
          <a:noFill/>
        </p:spPr>
        <p:txBody>
          <a:bodyPr wrap="square" lIns="0" tIns="0" rIns="0" bIns="0">
            <a:spAutoFit/>
          </a:bodyPr>
          <a:lstStyle/>
          <a:p>
            <a:pPr>
              <a:defRPr sz="1100" b="1">
                <a:solidFill>
                  <a:srgbClr val="2563EB"/>
                </a:solidFill>
              </a:defRPr>
            </a:pPr>
            <a:r>
              <a:t>SCAMSHIELD-VN · RBL SCIENTIFIC DEFENSE</a:t>
            </a:r>
          </a:p>
          <a:p>
            <a:pPr>
              <a:defRPr sz="2200" b="1">
                <a:solidFill>
                  <a:srgbClr val="182B49"/>
                </a:solidFill>
              </a:defRPr>
            </a:pPr>
            <a:r>
              <a:t>8. Các Mối Đe Dọa Giá Trị &amp; Biện Pháp Giảm Thiểu (Threats)</a:t>
            </a:r>
          </a:p>
        </p:txBody>
      </p:sp>
      <p:sp>
        <p:nvSpPr>
          <p:cNvPr id="3" name="Rounded Rectangle 2"/>
          <p:cNvSpPr/>
          <p:nvPr/>
        </p:nvSpPr>
        <p:spPr>
          <a:xfrm>
            <a:off x="731520" y="1463040"/>
            <a:ext cx="5212080" cy="2286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4846320" cy="1920240"/>
          </a:xfrm>
          <a:prstGeom prst="rect">
            <a:avLst/>
          </a:prstGeom>
          <a:noFill/>
        </p:spPr>
        <p:txBody>
          <a:bodyPr wrap="square">
            <a:spAutoFit/>
          </a:bodyPr>
          <a:lstStyle/>
          <a:p>
            <a:pPr>
              <a:spcAft>
                <a:spcPts val="400"/>
              </a:spcAft>
              <a:defRPr b="1" sz="1400">
                <a:solidFill>
                  <a:srgbClr val="182B49"/>
                </a:solidFill>
              </a:defRPr>
            </a:pPr>
            <a:r>
              <a:t>Internal Validity (Tính Không Tất Định)</a:t>
            </a:r>
          </a:p>
          <a:p>
            <a:pPr>
              <a:defRPr sz="1200"/>
            </a:pPr>
            <a:r>
              <a:t>Tính ngẫu nhiên của khởi tạo trọng số mạng nơ-ron.</a:t>
            </a:r>
            <a:br/>
            <a:r>
              <a:t>-&gt; Giảm thiểu: Chạy 5 seeds cố định [42, 100, 123, 999, 2026], báo cáo Mean +- Std.</a:t>
            </a:r>
          </a:p>
        </p:txBody>
      </p:sp>
      <p:sp>
        <p:nvSpPr>
          <p:cNvPr id="5" name="Rounded Rectangle 4"/>
          <p:cNvSpPr/>
          <p:nvPr/>
        </p:nvSpPr>
        <p:spPr>
          <a:xfrm>
            <a:off x="6217920" y="1463040"/>
            <a:ext cx="5212080" cy="2286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0" y="1645920"/>
            <a:ext cx="4846320" cy="1920240"/>
          </a:xfrm>
          <a:prstGeom prst="rect">
            <a:avLst/>
          </a:prstGeom>
          <a:noFill/>
        </p:spPr>
        <p:txBody>
          <a:bodyPr wrap="square">
            <a:spAutoFit/>
          </a:bodyPr>
          <a:lstStyle/>
          <a:p>
            <a:pPr>
              <a:spcAft>
                <a:spcPts val="400"/>
              </a:spcAft>
              <a:defRPr b="1" sz="1400">
                <a:solidFill>
                  <a:srgbClr val="182B49"/>
                </a:solidFill>
              </a:defRPr>
            </a:pPr>
            <a:r>
              <a:t>External Validity (Phạm Vi Khái Quát)</a:t>
            </a:r>
          </a:p>
          <a:p>
            <a:pPr>
              <a:defRPr sz="1200"/>
            </a:pPr>
            <a:r>
              <a:t>Dữ liệu khu biệt trong phạm vi SMS tiếng Việt.</a:t>
            </a:r>
            <a:br/>
            <a:r>
              <a:t>-&gt; Giảm thiểu: Giới hạn tuyên bố khoa học cho tiếng Việt viễn thông, không khái quát sang email tiếng Anh.</a:t>
            </a:r>
          </a:p>
        </p:txBody>
      </p:sp>
      <p:sp>
        <p:nvSpPr>
          <p:cNvPr id="7" name="Rounded Rectangle 6"/>
          <p:cNvSpPr/>
          <p:nvPr/>
        </p:nvSpPr>
        <p:spPr>
          <a:xfrm>
            <a:off x="731520" y="3931920"/>
            <a:ext cx="5212080" cy="2286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114800"/>
            <a:ext cx="4846320" cy="1920240"/>
          </a:xfrm>
          <a:prstGeom prst="rect">
            <a:avLst/>
          </a:prstGeom>
          <a:noFill/>
        </p:spPr>
        <p:txBody>
          <a:bodyPr wrap="square">
            <a:spAutoFit/>
          </a:bodyPr>
          <a:lstStyle/>
          <a:p>
            <a:pPr>
              <a:spcAft>
                <a:spcPts val="400"/>
              </a:spcAft>
              <a:defRPr b="1" sz="1400">
                <a:solidFill>
                  <a:srgbClr val="182B49"/>
                </a:solidFill>
              </a:defRPr>
            </a:pPr>
            <a:r>
              <a:t>Construct Validity (Rò Rỉ Dữ Liệu)</a:t>
            </a:r>
          </a:p>
          <a:p>
            <a:pPr>
              <a:defRPr sz="1200"/>
            </a:pPr>
            <a:r>
              <a:t>Nguy cơ Data Contamination giữa tập train và test.</a:t>
            </a:r>
            <a:br/>
            <a:r>
              <a:t>-&gt; Giảm thiểu: Deduplication nghiêm ngặt và niêm phong Frozen Test Set N=267 trước khi train.</a:t>
            </a:r>
          </a:p>
        </p:txBody>
      </p:sp>
      <p:sp>
        <p:nvSpPr>
          <p:cNvPr id="9" name="Rounded Rectangle 8"/>
          <p:cNvSpPr/>
          <p:nvPr/>
        </p:nvSpPr>
        <p:spPr>
          <a:xfrm>
            <a:off x="6217920" y="3931920"/>
            <a:ext cx="5212080" cy="2286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4114800"/>
            <a:ext cx="4846320" cy="1920240"/>
          </a:xfrm>
          <a:prstGeom prst="rect">
            <a:avLst/>
          </a:prstGeom>
          <a:noFill/>
        </p:spPr>
        <p:txBody>
          <a:bodyPr wrap="square">
            <a:spAutoFit/>
          </a:bodyPr>
          <a:lstStyle/>
          <a:p>
            <a:pPr>
              <a:spcAft>
                <a:spcPts val="400"/>
              </a:spcAft>
              <a:defRPr b="1" sz="1400">
                <a:solidFill>
                  <a:srgbClr val="182B49"/>
                </a:solidFill>
              </a:defRPr>
            </a:pPr>
            <a:r>
              <a:t>Conclusion Validity (Độ Mạnh Thống Kê)</a:t>
            </a:r>
          </a:p>
          <a:p>
            <a:pPr>
              <a:defRPr sz="1200"/>
            </a:pPr>
            <a:r>
              <a:t>Cỡ mẫu N=267 có thể bị underpowered nếu không kiểm tra.</a:t>
            </a:r>
            <a:br/>
            <a:r>
              <a:t>-&gt; Giảm thiểu: G*Power xác nhận Power &gt; 0.85, báo cáo kèm exact p-value và Odds Ratio.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914400"/>
          </a:xfrm>
          <a:prstGeom prst="rect">
            <a:avLst/>
          </a:prstGeom>
          <a:noFill/>
        </p:spPr>
        <p:txBody>
          <a:bodyPr wrap="square" lIns="0" tIns="0" rIns="0" bIns="0">
            <a:spAutoFit/>
          </a:bodyPr>
          <a:lstStyle/>
          <a:p>
            <a:pPr>
              <a:defRPr sz="1100" b="1">
                <a:solidFill>
                  <a:srgbClr val="2563EB"/>
                </a:solidFill>
              </a:defRPr>
            </a:pPr>
            <a:r>
              <a:t>SCAMSHIELD-VN · RBL SCIENTIFIC DEFENSE</a:t>
            </a:r>
          </a:p>
          <a:p>
            <a:pPr>
              <a:defRPr sz="2200" b="1">
                <a:solidFill>
                  <a:srgbClr val="182B49"/>
                </a:solidFill>
              </a:defRPr>
            </a:pPr>
            <a:r>
              <a:t>9. Kết Luận &amp; Hướng Mở Rộng (Conclusion &amp; Future Work)</a:t>
            </a:r>
          </a:p>
        </p:txBody>
      </p:sp>
      <p:sp>
        <p:nvSpPr>
          <p:cNvPr id="3" name="Rounded Rectangle 2"/>
          <p:cNvSpPr/>
          <p:nvPr/>
        </p:nvSpPr>
        <p:spPr>
          <a:xfrm>
            <a:off x="731520" y="1463040"/>
            <a:ext cx="10698480" cy="219456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645920"/>
            <a:ext cx="10149840" cy="1828800"/>
          </a:xfrm>
          <a:prstGeom prst="rect">
            <a:avLst/>
          </a:prstGeom>
          <a:noFill/>
        </p:spPr>
        <p:txBody>
          <a:bodyPr wrap="square">
            <a:spAutoFit/>
          </a:bodyPr>
          <a:lstStyle/>
          <a:p>
            <a:pPr>
              <a:defRPr b="1" sz="1400">
                <a:solidFill>
                  <a:srgbClr val="2563EB"/>
                </a:solidFill>
              </a:defRPr>
            </a:pPr>
            <a:r>
              <a:t>KẾT LUẬN NGHIÊN CỨU</a:t>
            </a:r>
          </a:p>
          <a:p>
            <a:pPr>
              <a:defRPr sz="1300"/>
            </a:pPr>
            <a:r>
              <a:t>1. ViSoBERT + WBCE (alpha=5.0) là giải pháp Pareto-optimal vượt trội cho bài toán phát hiện lừa đảo tiếng Việt trên thiết bị biên: Scam Recall đạt 95.62%, F1 đạt 92.51%, độ trễ chỉ 15ms/tin nhắn.</a:t>
            </a:r>
            <a:br/>
            <a:r>
              <a:t>2. Chứng minh thực nghiệm rằng tăng tham số thuần túy không thể bù đắp hàm mất mát đối xứng (PhoBERT-large 370M vẫn thua ViSoBERT 110M về Recall).</a:t>
            </a:r>
            <a:br/>
            <a:r>
              <a:t>3. Chứng minh hiện tượng Alarm Fatigue của Single Cloud LLM và hoàn thiện cơ sở lý thuyết cho Kiến trúc Hai Tầng và Hội Đồng Pháp Y 5 Tác Tử.</a:t>
            </a:r>
          </a:p>
        </p:txBody>
      </p:sp>
      <p:sp>
        <p:nvSpPr>
          <p:cNvPr id="5" name="Rounded Rectangle 4"/>
          <p:cNvSpPr/>
          <p:nvPr/>
        </p:nvSpPr>
        <p:spPr>
          <a:xfrm>
            <a:off x="731520" y="3931920"/>
            <a:ext cx="5120640" cy="2286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114800"/>
            <a:ext cx="4754880" cy="1920240"/>
          </a:xfrm>
          <a:prstGeom prst="rect">
            <a:avLst/>
          </a:prstGeom>
          <a:noFill/>
        </p:spPr>
        <p:txBody>
          <a:bodyPr wrap="square">
            <a:spAutoFit/>
          </a:bodyPr>
          <a:lstStyle/>
          <a:p>
            <a:pPr>
              <a:spcAft>
                <a:spcPts val="400"/>
              </a:spcAft>
              <a:defRPr b="1" sz="1500">
                <a:solidFill>
                  <a:srgbClr val="182B49"/>
                </a:solidFill>
              </a:defRPr>
            </a:pPr>
            <a:r>
              <a:t>Hướng Phát Triển Tiếp Theo</a:t>
            </a:r>
          </a:p>
          <a:p>
            <a:pPr>
              <a:defRPr sz="1200"/>
            </a:pPr>
            <a:r>
              <a:t>• Mở rộng mô hình đa phương thức (Vision-Language) quét mã QR độc hại trên thiết bị.</a:t>
            </a:r>
            <a:br/>
            <a:r>
              <a:t>• Thử nghiệm trên luồng dữ liệu viễn thông thực tế quy mô lớn của nhà mạng.</a:t>
            </a:r>
            <a:br/>
            <a:r>
              <a:t>• Tối ưu hóa độ trễ đồng thuận phân tán của Hội đồng 5 AI.</a:t>
            </a:r>
          </a:p>
        </p:txBody>
      </p:sp>
      <p:sp>
        <p:nvSpPr>
          <p:cNvPr id="7" name="Rounded Rectangle 6"/>
          <p:cNvSpPr/>
          <p:nvPr/>
        </p:nvSpPr>
        <p:spPr>
          <a:xfrm>
            <a:off x="6217920" y="3931920"/>
            <a:ext cx="5212080" cy="2286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4114800"/>
            <a:ext cx="4846320" cy="1920240"/>
          </a:xfrm>
          <a:prstGeom prst="rect">
            <a:avLst/>
          </a:prstGeom>
          <a:noFill/>
        </p:spPr>
        <p:txBody>
          <a:bodyPr wrap="square">
            <a:spAutoFit/>
          </a:bodyPr>
          <a:lstStyle/>
          <a:p>
            <a:pPr>
              <a:spcAft>
                <a:spcPts val="400"/>
              </a:spcAft>
              <a:defRPr b="1" sz="1500">
                <a:solidFill>
                  <a:srgbClr val="182B49"/>
                </a:solidFill>
              </a:defRPr>
            </a:pPr>
            <a:r>
              <a:t>Liêm Chính Học Thuật (RBL Ethics)</a:t>
            </a:r>
          </a:p>
          <a:p>
            <a:pPr>
              <a:defRPr sz="1200"/>
            </a:pPr>
            <a:r>
              <a:t>• Tuân thủ 100% nguyên tắc No-HARKing và quy tắc phân vai LR != MS.</a:t>
            </a:r>
            <a:br/>
            <a:r>
              <a:t>• Báo cáo trung thực kết quả âm tính và độ lệch dữ liệu.</a:t>
            </a:r>
            <a:br/>
            <a:r>
              <a:t>• Kiểm tra văn phong AI Writing Check đạt mức an toàn (&lt;= 18%).</a:t>
            </a:r>
            <a:br/>
            <a:r>
              <a:t>• Cảm ơn GVHD ThS. L.T.Q.Chi đã định hướng nghiên cứu!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